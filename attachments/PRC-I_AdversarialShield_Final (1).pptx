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65" d="100"/>
          <a:sy n="65" d="100"/>
        </p:scale>
        <p:origin x="700" y="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463040"/>
            <a:ext cx="11247120" cy="1097280"/>
          </a:xfrm>
          <a:prstGeom prst="rect">
            <a:avLst/>
          </a:prstGeom>
          <a:noFill/>
        </p:spPr>
        <p:txBody>
          <a:bodyPr wrap="none">
            <a:spAutoFit/>
          </a:bodyPr>
          <a:lstStyle/>
          <a:p>
            <a:pPr algn="ctr">
              <a:defRPr sz="5400" b="1">
                <a:solidFill>
                  <a:srgbClr val="0B1E3B"/>
                </a:solidFill>
                <a:latin typeface="Calibri"/>
              </a:defRPr>
            </a:pPr>
            <a:r>
              <a:t>AdversarialShield</a:t>
            </a:r>
          </a:p>
        </p:txBody>
      </p:sp>
      <p:sp>
        <p:nvSpPr>
          <p:cNvPr id="6" name="TextBox 5"/>
          <p:cNvSpPr txBox="1"/>
          <p:nvPr/>
        </p:nvSpPr>
        <p:spPr>
          <a:xfrm>
            <a:off x="457200" y="2560320"/>
            <a:ext cx="11247120" cy="548640"/>
          </a:xfrm>
          <a:prstGeom prst="rect">
            <a:avLst/>
          </a:prstGeom>
          <a:noFill/>
        </p:spPr>
        <p:txBody>
          <a:bodyPr wrap="none">
            <a:spAutoFit/>
          </a:bodyPr>
          <a:lstStyle/>
          <a:p>
            <a:pPr algn="ctr">
              <a:defRPr sz="2800">
                <a:solidFill>
                  <a:srgbClr val="6C757D"/>
                </a:solidFill>
                <a:latin typeface="Calibri"/>
              </a:defRPr>
            </a:pPr>
            <a:r>
              <a:t>Robust AI for Network Intrusion Detection</a:t>
            </a:r>
          </a:p>
        </p:txBody>
      </p:sp>
      <p:sp>
        <p:nvSpPr>
          <p:cNvPr id="7" name="TextBox 6"/>
          <p:cNvSpPr txBox="1"/>
          <p:nvPr/>
        </p:nvSpPr>
        <p:spPr>
          <a:xfrm>
            <a:off x="457200" y="3383280"/>
            <a:ext cx="11247120" cy="1097280"/>
          </a:xfrm>
          <a:prstGeom prst="rect">
            <a:avLst/>
          </a:prstGeom>
          <a:noFill/>
        </p:spPr>
        <p:txBody>
          <a:bodyPr wrap="square">
            <a:spAutoFit/>
          </a:bodyPr>
          <a:lstStyle/>
          <a:p>
            <a:pPr algn="ctr">
              <a:spcAft>
                <a:spcPts val="400"/>
              </a:spcAft>
              <a:defRPr sz="1800">
                <a:solidFill>
                  <a:srgbClr val="212529"/>
                </a:solidFill>
                <a:latin typeface="Calibri"/>
              </a:defRPr>
            </a:pPr>
            <a:r>
              <a:t>Team No-10</a:t>
            </a:r>
            <a:br/>
            <a:r>
              <a:t>2320030299 – KONDOJU KARTIKEYA VANDITH MANOHAR</a:t>
            </a:r>
            <a:br/>
            <a:r>
              <a:t>2320030378 – ANISETTI DEEPIKA</a:t>
            </a:r>
            <a:br/>
            <a:r>
              <a:t>2320030317 – SIDDAMSETTY SANDEEP</a:t>
            </a:r>
          </a:p>
        </p:txBody>
      </p:sp>
      <p:sp>
        <p:nvSpPr>
          <p:cNvPr id="8" name="TextBox 7"/>
          <p:cNvSpPr txBox="1"/>
          <p:nvPr/>
        </p:nvSpPr>
        <p:spPr>
          <a:xfrm>
            <a:off x="457200" y="4572000"/>
            <a:ext cx="11247120" cy="457200"/>
          </a:xfrm>
          <a:prstGeom prst="rect">
            <a:avLst/>
          </a:prstGeom>
          <a:noFill/>
        </p:spPr>
        <p:txBody>
          <a:bodyPr wrap="none">
            <a:spAutoFit/>
          </a:bodyPr>
          <a:lstStyle/>
          <a:p>
            <a:pPr algn="ctr">
              <a:defRPr sz="1600" b="1">
                <a:solidFill>
                  <a:srgbClr val="0B1E3B"/>
                </a:solidFill>
                <a:latin typeface="Calibri"/>
              </a:defRPr>
            </a:pPr>
            <a:r>
              <a:t>ENGINEERING CAPSTONE PROJECT – 1 / INDUSTRIAL INTERNSHIP PHASE-I</a:t>
            </a:r>
          </a:p>
        </p:txBody>
      </p:sp>
      <p:sp>
        <p:nvSpPr>
          <p:cNvPr id="9" name="TextBox 8"/>
          <p:cNvSpPr txBox="1"/>
          <p:nvPr/>
        </p:nvSpPr>
        <p:spPr>
          <a:xfrm>
            <a:off x="457200" y="4937760"/>
            <a:ext cx="11247120" cy="365760"/>
          </a:xfrm>
          <a:prstGeom prst="rect">
            <a:avLst/>
          </a:prstGeom>
          <a:noFill/>
        </p:spPr>
        <p:txBody>
          <a:bodyPr wrap="none">
            <a:spAutoFit/>
          </a:bodyPr>
          <a:lstStyle/>
          <a:p>
            <a:pPr algn="ctr">
              <a:defRPr sz="1800">
                <a:solidFill>
                  <a:srgbClr val="FF7F27"/>
                </a:solidFill>
                <a:latin typeface="Calibri"/>
              </a:defRPr>
            </a:pPr>
            <a:r>
              <a:t>Project Review-1</a:t>
            </a:r>
          </a:p>
        </p:txBody>
      </p:sp>
      <p:sp>
        <p:nvSpPr>
          <p:cNvPr id="10" name="TextBox 9"/>
          <p:cNvSpPr txBox="1"/>
          <p:nvPr/>
        </p:nvSpPr>
        <p:spPr>
          <a:xfrm>
            <a:off x="457200" y="5394960"/>
            <a:ext cx="11247120" cy="365760"/>
          </a:xfrm>
          <a:prstGeom prst="rect">
            <a:avLst/>
          </a:prstGeom>
          <a:noFill/>
        </p:spPr>
        <p:txBody>
          <a:bodyPr wrap="none">
            <a:spAutoFit/>
          </a:bodyPr>
          <a:lstStyle/>
          <a:p>
            <a:pPr algn="ctr">
              <a:defRPr sz="1800">
                <a:solidFill>
                  <a:srgbClr val="212529"/>
                </a:solidFill>
                <a:latin typeface="Calibri"/>
              </a:defRPr>
            </a:pPr>
            <a:r>
              <a:t>Under the Guidance of Dr. V. Muniraj Naidu</a:t>
            </a:r>
          </a:p>
        </p:txBody>
      </p:sp>
      <p:sp>
        <p:nvSpPr>
          <p:cNvPr id="11" name="TextBox 10"/>
          <p:cNvSpPr txBox="1"/>
          <p:nvPr/>
        </p:nvSpPr>
        <p:spPr>
          <a:xfrm>
            <a:off x="457200" y="5760720"/>
            <a:ext cx="11247120" cy="365760"/>
          </a:xfrm>
          <a:prstGeom prst="rect">
            <a:avLst/>
          </a:prstGeom>
          <a:noFill/>
        </p:spPr>
        <p:txBody>
          <a:bodyPr wrap="none">
            <a:spAutoFit/>
          </a:bodyPr>
          <a:lstStyle/>
          <a:p>
            <a:pPr algn="ctr">
              <a:defRPr sz="1600">
                <a:solidFill>
                  <a:srgbClr val="6C757D"/>
                </a:solidFill>
                <a:latin typeface="Calibri"/>
              </a:defRPr>
            </a:pPr>
            <a:r>
              <a:t>Department of Computer Science and Engineering</a:t>
            </a:r>
          </a:p>
        </p:txBody>
      </p:sp>
      <p:sp>
        <p:nvSpPr>
          <p:cNvPr id="12" name="TextBox 11"/>
          <p:cNvSpPr txBox="1"/>
          <p:nvPr/>
        </p:nvSpPr>
        <p:spPr>
          <a:xfrm>
            <a:off x="457200" y="6126480"/>
            <a:ext cx="11247120" cy="365760"/>
          </a:xfrm>
          <a:prstGeom prst="rect">
            <a:avLst/>
          </a:prstGeom>
          <a:noFill/>
        </p:spPr>
        <p:txBody>
          <a:bodyPr wrap="none">
            <a:spAutoFit/>
          </a:bodyPr>
          <a:lstStyle/>
          <a:p>
            <a:pPr algn="ctr">
              <a:defRPr sz="1400" b="1">
                <a:solidFill>
                  <a:srgbClr val="0B1E3B"/>
                </a:solidFill>
                <a:latin typeface="Calibri"/>
              </a:defRPr>
            </a:pPr>
            <a:r>
              <a:t>KONERU LAKSHMAIAH EDUCATION FOUNDATION</a:t>
            </a:r>
          </a:p>
        </p:txBody>
      </p:sp>
      <p:sp>
        <p:nvSpPr>
          <p:cNvPr id="13" name="Rectangle 12"/>
          <p:cNvSpPr/>
          <p:nvPr/>
        </p:nvSpPr>
        <p:spPr>
          <a:xfrm>
            <a:off x="0" y="6537960"/>
            <a:ext cx="12191695" cy="320040"/>
          </a:xfrm>
          <a:prstGeom prst="rect">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6565392"/>
            <a:ext cx="2743200" cy="274320"/>
          </a:xfrm>
          <a:prstGeom prst="rect">
            <a:avLst/>
          </a:prstGeom>
          <a:noFill/>
        </p:spPr>
        <p:txBody>
          <a:bodyPr wrap="none">
            <a:spAutoFit/>
          </a:bodyPr>
          <a:lstStyle/>
          <a:p>
            <a:pPr>
              <a:defRPr sz="1200">
                <a:solidFill>
                  <a:srgbClr val="FFFFFF"/>
                </a:solidFill>
                <a:latin typeface="Calibri"/>
              </a:defRPr>
            </a:pPr>
            <a:r>
              <a:t>22-08-2026</a:t>
            </a:r>
          </a:p>
        </p:txBody>
      </p:sp>
      <p:sp>
        <p:nvSpPr>
          <p:cNvPr id="15" name="TextBox 14"/>
          <p:cNvSpPr txBox="1"/>
          <p:nvPr/>
        </p:nvSpPr>
        <p:spPr>
          <a:xfrm>
            <a:off x="9601200" y="6565392"/>
            <a:ext cx="2103120" cy="274320"/>
          </a:xfrm>
          <a:prstGeom prst="rect">
            <a:avLst/>
          </a:prstGeom>
          <a:noFill/>
        </p:spPr>
        <p:txBody>
          <a:bodyPr wrap="none">
            <a:spAutoFit/>
          </a:bodyPr>
          <a:lstStyle/>
          <a:p>
            <a:pPr algn="r">
              <a:defRPr sz="1200">
                <a:solidFill>
                  <a:srgbClr val="FFFFFF"/>
                </a:solidFill>
                <a:latin typeface="Calibri"/>
              </a:defRPr>
            </a:pPr>
            <a:r>
              <a:t>PRC-I  |  AdversarialShield</a:t>
            </a:r>
          </a:p>
        </p:txBody>
      </p:sp>
      <p:pic>
        <p:nvPicPr>
          <p:cNvPr id="16" name="Picture 15">
            <a:extLst>
              <a:ext uri="{FF2B5EF4-FFF2-40B4-BE49-F238E27FC236}">
                <a16:creationId xmlns:a16="http://schemas.microsoft.com/office/drawing/2014/main" id="{8A1E4F36-1753-0867-ED5E-D624F2F98E9F}"/>
              </a:ext>
            </a:extLst>
          </p:cNvPr>
          <p:cNvPicPr>
            <a:picLocks noChangeAspect="1"/>
          </p:cNvPicPr>
          <p:nvPr/>
        </p:nvPicPr>
        <p:blipFill>
          <a:blip r:embed="rId2"/>
          <a:stretch>
            <a:fillRect/>
          </a:stretch>
        </p:blipFill>
        <p:spPr>
          <a:xfrm>
            <a:off x="74142" y="130057"/>
            <a:ext cx="1458484" cy="690861"/>
          </a:xfrm>
          <a:prstGeom prst="rect">
            <a:avLst/>
          </a:prstGeom>
        </p:spPr>
      </p:pic>
      <p:sp>
        <p:nvSpPr>
          <p:cNvPr id="19" name="TextBox 18">
            <a:extLst>
              <a:ext uri="{FF2B5EF4-FFF2-40B4-BE49-F238E27FC236}">
                <a16:creationId xmlns:a16="http://schemas.microsoft.com/office/drawing/2014/main" id="{53CB9CE0-7F68-B474-A80B-DA6EF806B950}"/>
              </a:ext>
            </a:extLst>
          </p:cNvPr>
          <p:cNvSpPr txBox="1"/>
          <p:nvPr/>
        </p:nvSpPr>
        <p:spPr>
          <a:xfrm>
            <a:off x="1476632" y="287090"/>
            <a:ext cx="9928654" cy="923330"/>
          </a:xfrm>
          <a:prstGeom prst="rect">
            <a:avLst/>
          </a:prstGeom>
          <a:noFill/>
        </p:spPr>
        <p:txBody>
          <a:bodyPr wrap="square">
            <a:spAutoFit/>
          </a:bodyPr>
          <a:lstStyle/>
          <a:p>
            <a:pPr algn="ctr"/>
            <a:r>
              <a:rPr lang="da-DK" sz="1800" b="1" dirty="0">
                <a:solidFill>
                  <a:srgbClr val="FF0000"/>
                </a:solidFill>
                <a:latin typeface="Times New Roman" panose="02020603050405020304" pitchFamily="18" charset="0"/>
                <a:cs typeface="Times New Roman" panose="02020603050405020304" pitchFamily="18" charset="0"/>
              </a:rPr>
              <a:t>ENGINEERING CAPSTONE PROJECT – 1/INDUSTRIAL INTERNSHIP/ INDUSTRIAL INTERNSHIP PHASE-I</a:t>
            </a:r>
            <a:r>
              <a:rPr lang="da-DK" sz="1800" b="1" dirty="0">
                <a:latin typeface="Times New Roman" panose="02020603050405020304" pitchFamily="18" charset="0"/>
                <a:cs typeface="Times New Roman" panose="02020603050405020304" pitchFamily="18" charset="0"/>
              </a:rPr>
              <a:t/>
            </a:r>
            <a:br>
              <a:rPr lang="da-DK" sz="1800" b="1" dirty="0">
                <a:latin typeface="Times New Roman" panose="02020603050405020304" pitchFamily="18" charset="0"/>
                <a:cs typeface="Times New Roman" panose="02020603050405020304" pitchFamily="18" charset="0"/>
              </a:rPr>
            </a:br>
            <a:r>
              <a:rPr lang="da-DK" sz="1800" b="1" dirty="0">
                <a:solidFill>
                  <a:srgbClr val="0070C0"/>
                </a:solidFill>
                <a:latin typeface="Times New Roman" panose="02020603050405020304" pitchFamily="18" charset="0"/>
                <a:cs typeface="Times New Roman" panose="02020603050405020304" pitchFamily="18" charset="0"/>
              </a:rPr>
              <a:t>Project Review-1</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19433" y="715200"/>
            <a:ext cx="11084887" cy="584775"/>
          </a:xfrm>
          <a:prstGeom prst="rect">
            <a:avLst/>
          </a:prstGeom>
          <a:noFill/>
        </p:spPr>
        <p:txBody>
          <a:bodyPr wrap="square">
            <a:spAutoFit/>
          </a:bodyPr>
          <a:lstStyle/>
          <a:p>
            <a:pPr algn="l">
              <a:defRPr sz="3200" b="1">
                <a:solidFill>
                  <a:srgbClr val="0B1E3B"/>
                </a:solidFill>
                <a:latin typeface="Calibri"/>
              </a:defRPr>
            </a:pPr>
            <a:r>
              <a:rPr dirty="0" smtClean="0"/>
              <a:t>Outline</a:t>
            </a:r>
            <a:endParaRPr dirty="0"/>
          </a:p>
        </p:txBody>
      </p:sp>
      <p:sp>
        <p:nvSpPr>
          <p:cNvPr id="5" name="Rectangle 4"/>
          <p:cNvSpPr/>
          <p:nvPr/>
        </p:nvSpPr>
        <p:spPr>
          <a:xfrm>
            <a:off x="0" y="6537960"/>
            <a:ext cx="12191695" cy="320040"/>
          </a:xfrm>
          <a:prstGeom prst="rect">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65392"/>
            <a:ext cx="2743200" cy="274320"/>
          </a:xfrm>
          <a:prstGeom prst="rect">
            <a:avLst/>
          </a:prstGeom>
          <a:noFill/>
        </p:spPr>
        <p:txBody>
          <a:bodyPr wrap="none">
            <a:spAutoFit/>
          </a:bodyPr>
          <a:lstStyle/>
          <a:p>
            <a:pPr>
              <a:defRPr sz="1200">
                <a:solidFill>
                  <a:srgbClr val="FFFFFF"/>
                </a:solidFill>
                <a:latin typeface="Calibri"/>
              </a:defRPr>
            </a:pPr>
            <a:r>
              <a:t>22-08-2026</a:t>
            </a:r>
          </a:p>
        </p:txBody>
      </p:sp>
      <p:sp>
        <p:nvSpPr>
          <p:cNvPr id="7" name="TextBox 6"/>
          <p:cNvSpPr txBox="1"/>
          <p:nvPr/>
        </p:nvSpPr>
        <p:spPr>
          <a:xfrm>
            <a:off x="9601200" y="6565392"/>
            <a:ext cx="2103120" cy="274320"/>
          </a:xfrm>
          <a:prstGeom prst="rect">
            <a:avLst/>
          </a:prstGeom>
          <a:noFill/>
        </p:spPr>
        <p:txBody>
          <a:bodyPr wrap="none">
            <a:spAutoFit/>
          </a:bodyPr>
          <a:lstStyle/>
          <a:p>
            <a:pPr algn="r">
              <a:defRPr sz="1200">
                <a:solidFill>
                  <a:srgbClr val="FFFFFF"/>
                </a:solidFill>
                <a:latin typeface="Calibri"/>
              </a:defRPr>
            </a:pPr>
            <a:r>
              <a:t>PRC-I  |  AdversarialShield</a:t>
            </a:r>
          </a:p>
        </p:txBody>
      </p:sp>
      <p:sp>
        <p:nvSpPr>
          <p:cNvPr id="8" name="TextBox 7"/>
          <p:cNvSpPr txBox="1"/>
          <p:nvPr/>
        </p:nvSpPr>
        <p:spPr>
          <a:xfrm>
            <a:off x="1828800" y="1188720"/>
            <a:ext cx="8229600" cy="5029200"/>
          </a:xfrm>
          <a:prstGeom prst="rect">
            <a:avLst/>
          </a:prstGeom>
          <a:noFill/>
        </p:spPr>
        <p:txBody>
          <a:bodyPr wrap="square">
            <a:spAutoFit/>
          </a:bodyPr>
          <a:lstStyle/>
          <a:p>
            <a:pPr algn="ctr">
              <a:spcAft>
                <a:spcPts val="1200"/>
              </a:spcAft>
              <a:defRPr sz="2600">
                <a:solidFill>
                  <a:srgbClr val="212529"/>
                </a:solidFill>
                <a:latin typeface="Calibri"/>
              </a:defRPr>
            </a:pPr>
            <a:r>
              <a:rPr dirty="0"/>
              <a:t>1. Introduction</a:t>
            </a:r>
          </a:p>
          <a:p>
            <a:pPr algn="ctr">
              <a:spcAft>
                <a:spcPts val="1200"/>
              </a:spcAft>
              <a:defRPr sz="2600">
                <a:solidFill>
                  <a:srgbClr val="212529"/>
                </a:solidFill>
                <a:latin typeface="Calibri"/>
              </a:defRPr>
            </a:pPr>
            <a:r>
              <a:rPr dirty="0"/>
              <a:t>2. Problem Statement</a:t>
            </a:r>
          </a:p>
          <a:p>
            <a:pPr algn="ctr">
              <a:spcAft>
                <a:spcPts val="1200"/>
              </a:spcAft>
              <a:defRPr sz="2600">
                <a:solidFill>
                  <a:srgbClr val="212529"/>
                </a:solidFill>
                <a:latin typeface="Calibri"/>
              </a:defRPr>
            </a:pPr>
            <a:r>
              <a:rPr dirty="0"/>
              <a:t>3. Objectives</a:t>
            </a:r>
          </a:p>
          <a:p>
            <a:pPr algn="ctr">
              <a:spcAft>
                <a:spcPts val="1200"/>
              </a:spcAft>
              <a:defRPr sz="2600">
                <a:solidFill>
                  <a:srgbClr val="212529"/>
                </a:solidFill>
                <a:latin typeface="Calibri"/>
              </a:defRPr>
            </a:pPr>
            <a:r>
              <a:rPr dirty="0"/>
              <a:t>4. Literature Survey</a:t>
            </a:r>
          </a:p>
          <a:p>
            <a:pPr algn="ctr">
              <a:spcAft>
                <a:spcPts val="1200"/>
              </a:spcAft>
              <a:defRPr sz="2600">
                <a:solidFill>
                  <a:srgbClr val="212529"/>
                </a:solidFill>
                <a:latin typeface="Calibri"/>
              </a:defRPr>
            </a:pPr>
            <a:r>
              <a:rPr dirty="0"/>
              <a:t>5. Research Gap Identification</a:t>
            </a:r>
          </a:p>
          <a:p>
            <a:pPr algn="ctr">
              <a:spcAft>
                <a:spcPts val="1200"/>
              </a:spcAft>
              <a:defRPr sz="2600">
                <a:solidFill>
                  <a:srgbClr val="212529"/>
                </a:solidFill>
                <a:latin typeface="Calibri"/>
              </a:defRPr>
            </a:pPr>
            <a:r>
              <a:rPr dirty="0"/>
              <a:t>6. Innovation, Creativity, and Novelty</a:t>
            </a:r>
          </a:p>
          <a:p>
            <a:pPr algn="ctr">
              <a:spcAft>
                <a:spcPts val="1200"/>
              </a:spcAft>
              <a:defRPr sz="2600">
                <a:solidFill>
                  <a:srgbClr val="212529"/>
                </a:solidFill>
                <a:latin typeface="Calibri"/>
              </a:defRPr>
            </a:pPr>
            <a:r>
              <a:rPr dirty="0"/>
              <a:t>7. Feasibility and Project Plan</a:t>
            </a:r>
          </a:p>
          <a:p>
            <a:pPr algn="ctr">
              <a:spcAft>
                <a:spcPts val="1200"/>
              </a:spcAft>
              <a:defRPr sz="2600">
                <a:solidFill>
                  <a:srgbClr val="212529"/>
                </a:solidFill>
                <a:latin typeface="Calibri"/>
              </a:defRPr>
            </a:pPr>
            <a:r>
              <a:rPr dirty="0"/>
              <a:t>8. Conclusion</a:t>
            </a:r>
          </a:p>
          <a:p>
            <a:pPr algn="ctr">
              <a:spcAft>
                <a:spcPts val="1200"/>
              </a:spcAft>
              <a:defRPr sz="2600">
                <a:solidFill>
                  <a:srgbClr val="212529"/>
                </a:solidFill>
                <a:latin typeface="Calibri"/>
              </a:defRPr>
            </a:pPr>
            <a:r>
              <a:rPr dirty="0"/>
              <a:t>9. References</a:t>
            </a:r>
          </a:p>
        </p:txBody>
      </p:sp>
      <p:pic>
        <p:nvPicPr>
          <p:cNvPr id="9" name="Picture 8">
            <a:extLst>
              <a:ext uri="{FF2B5EF4-FFF2-40B4-BE49-F238E27FC236}">
                <a16:creationId xmlns:a16="http://schemas.microsoft.com/office/drawing/2014/main" id="{8A1E4F36-1753-0867-ED5E-D624F2F98E9F}"/>
              </a:ext>
            </a:extLst>
          </p:cNvPr>
          <p:cNvPicPr>
            <a:picLocks noChangeAspect="1"/>
          </p:cNvPicPr>
          <p:nvPr/>
        </p:nvPicPr>
        <p:blipFill>
          <a:blip r:embed="rId2"/>
          <a:stretch>
            <a:fillRect/>
          </a:stretch>
        </p:blipFill>
        <p:spPr>
          <a:xfrm>
            <a:off x="74142" y="130057"/>
            <a:ext cx="1458484" cy="69086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12432"/>
            <a:ext cx="10171694" cy="584775"/>
          </a:xfrm>
          <a:prstGeom prst="rect">
            <a:avLst/>
          </a:prstGeom>
          <a:noFill/>
        </p:spPr>
        <p:txBody>
          <a:bodyPr wrap="square">
            <a:spAutoFit/>
          </a:bodyPr>
          <a:lstStyle/>
          <a:p>
            <a:pPr algn="ctr">
              <a:defRPr sz="3200" b="1">
                <a:solidFill>
                  <a:srgbClr val="0B1E3B"/>
                </a:solidFill>
                <a:latin typeface="Calibri"/>
              </a:defRPr>
            </a:pPr>
            <a:r>
              <a:rPr dirty="0" smtClean="0"/>
              <a:t>Introduction</a:t>
            </a:r>
            <a:endParaRPr dirty="0"/>
          </a:p>
        </p:txBody>
      </p:sp>
      <p:sp>
        <p:nvSpPr>
          <p:cNvPr id="5" name="Rectangle 4"/>
          <p:cNvSpPr/>
          <p:nvPr/>
        </p:nvSpPr>
        <p:spPr>
          <a:xfrm>
            <a:off x="0" y="6537960"/>
            <a:ext cx="12191695" cy="320040"/>
          </a:xfrm>
          <a:prstGeom prst="rect">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65392"/>
            <a:ext cx="2743200" cy="274320"/>
          </a:xfrm>
          <a:prstGeom prst="rect">
            <a:avLst/>
          </a:prstGeom>
          <a:noFill/>
        </p:spPr>
        <p:txBody>
          <a:bodyPr wrap="none">
            <a:spAutoFit/>
          </a:bodyPr>
          <a:lstStyle/>
          <a:p>
            <a:pPr>
              <a:defRPr sz="1200">
                <a:solidFill>
                  <a:srgbClr val="FFFFFF"/>
                </a:solidFill>
                <a:latin typeface="Calibri"/>
              </a:defRPr>
            </a:pPr>
            <a:r>
              <a:t>22-08-2026</a:t>
            </a:r>
          </a:p>
        </p:txBody>
      </p:sp>
      <p:sp>
        <p:nvSpPr>
          <p:cNvPr id="7" name="TextBox 6"/>
          <p:cNvSpPr txBox="1"/>
          <p:nvPr/>
        </p:nvSpPr>
        <p:spPr>
          <a:xfrm>
            <a:off x="9601200" y="6565392"/>
            <a:ext cx="2103120" cy="274320"/>
          </a:xfrm>
          <a:prstGeom prst="rect">
            <a:avLst/>
          </a:prstGeom>
          <a:noFill/>
        </p:spPr>
        <p:txBody>
          <a:bodyPr wrap="none">
            <a:spAutoFit/>
          </a:bodyPr>
          <a:lstStyle/>
          <a:p>
            <a:pPr algn="r">
              <a:defRPr sz="1200">
                <a:solidFill>
                  <a:srgbClr val="FFFFFF"/>
                </a:solidFill>
                <a:latin typeface="Calibri"/>
              </a:defRPr>
            </a:pPr>
            <a:r>
              <a:t>PRC-I  |  AdversarialShield</a:t>
            </a:r>
          </a:p>
        </p:txBody>
      </p:sp>
      <p:sp>
        <p:nvSpPr>
          <p:cNvPr id="8" name="TextBox 7"/>
          <p:cNvSpPr txBox="1"/>
          <p:nvPr/>
        </p:nvSpPr>
        <p:spPr>
          <a:xfrm>
            <a:off x="457200" y="1188720"/>
            <a:ext cx="11247120" cy="4572000"/>
          </a:xfrm>
          <a:prstGeom prst="rect">
            <a:avLst/>
          </a:prstGeom>
          <a:noFill/>
        </p:spPr>
        <p:txBody>
          <a:bodyPr wrap="square">
            <a:spAutoFit/>
          </a:bodyPr>
          <a:lstStyle/>
          <a:p>
            <a:pPr>
              <a:spcAft>
                <a:spcPts val="1000"/>
              </a:spcAft>
              <a:defRPr sz="2000">
                <a:solidFill>
                  <a:srgbClr val="212529"/>
                </a:solidFill>
                <a:latin typeface="Calibri"/>
              </a:defRPr>
            </a:pPr>
            <a:r>
              <a:t>Background:</a:t>
            </a:r>
            <a:br/>
            <a:r>
              <a:t>Network Intrusion Detection Systems (NIDS) increasingly rely on Machine Learning (ML) and Deep Learning (DL) for accurate threat detection. However, adversarial attackers can craft subtle perturbations (e.g., FGSM, PGD) to evade detection.</a:t>
            </a:r>
            <a:br/>
            <a:r>
              <a:t/>
            </a:r>
            <a:br/>
            <a:r>
              <a:t>Importance:</a:t>
            </a:r>
            <a:br/>
            <a:r>
              <a:t>Securing AI-based NIDS is critical for real-world deployments. Adversarial evasion poses a serious risk, as attackers can bypass detection and compromise networks.</a:t>
            </a:r>
            <a:br/>
            <a:r>
              <a:t/>
            </a:r>
            <a:br/>
            <a:r>
              <a:t>Application:</a:t>
            </a:r>
            <a:br/>
            <a:r>
              <a:t>This project builds a unified framework – AdversarialShield – to evaluate and enhance the robustness of ML models against adversarial attacks in network traffic.</a:t>
            </a:r>
          </a:p>
        </p:txBody>
      </p:sp>
      <p:pic>
        <p:nvPicPr>
          <p:cNvPr id="9" name="Picture 8">
            <a:extLst>
              <a:ext uri="{FF2B5EF4-FFF2-40B4-BE49-F238E27FC236}">
                <a16:creationId xmlns:a16="http://schemas.microsoft.com/office/drawing/2014/main" id="{8A1E4F36-1753-0867-ED5E-D624F2F98E9F}"/>
              </a:ext>
            </a:extLst>
          </p:cNvPr>
          <p:cNvPicPr>
            <a:picLocks noChangeAspect="1"/>
          </p:cNvPicPr>
          <p:nvPr/>
        </p:nvPicPr>
        <p:blipFill>
          <a:blip r:embed="rId2"/>
          <a:stretch>
            <a:fillRect/>
          </a:stretch>
        </p:blipFill>
        <p:spPr>
          <a:xfrm>
            <a:off x="74142" y="130057"/>
            <a:ext cx="1458484" cy="69086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44130" y="274320"/>
            <a:ext cx="11139948" cy="584775"/>
          </a:xfrm>
          <a:prstGeom prst="rect">
            <a:avLst/>
          </a:prstGeom>
          <a:noFill/>
        </p:spPr>
        <p:txBody>
          <a:bodyPr wrap="square">
            <a:spAutoFit/>
          </a:bodyPr>
          <a:lstStyle/>
          <a:p>
            <a:pPr algn="ctr">
              <a:defRPr sz="3200" b="1">
                <a:solidFill>
                  <a:srgbClr val="0B1E3B"/>
                </a:solidFill>
                <a:latin typeface="Calibri"/>
              </a:defRPr>
            </a:pPr>
            <a:r>
              <a:rPr dirty="0"/>
              <a:t>Problem </a:t>
            </a:r>
            <a:r>
              <a:rPr dirty="0" smtClean="0"/>
              <a:t>Statement</a:t>
            </a:r>
            <a:endParaRPr dirty="0"/>
          </a:p>
        </p:txBody>
      </p:sp>
      <p:sp>
        <p:nvSpPr>
          <p:cNvPr id="5" name="Rectangle 4"/>
          <p:cNvSpPr/>
          <p:nvPr/>
        </p:nvSpPr>
        <p:spPr>
          <a:xfrm>
            <a:off x="0" y="6537960"/>
            <a:ext cx="12191695" cy="320040"/>
          </a:xfrm>
          <a:prstGeom prst="rect">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65392"/>
            <a:ext cx="2743200" cy="274320"/>
          </a:xfrm>
          <a:prstGeom prst="rect">
            <a:avLst/>
          </a:prstGeom>
          <a:noFill/>
        </p:spPr>
        <p:txBody>
          <a:bodyPr wrap="none">
            <a:spAutoFit/>
          </a:bodyPr>
          <a:lstStyle/>
          <a:p>
            <a:pPr>
              <a:defRPr sz="1200">
                <a:solidFill>
                  <a:srgbClr val="FFFFFF"/>
                </a:solidFill>
                <a:latin typeface="Calibri"/>
              </a:defRPr>
            </a:pPr>
            <a:r>
              <a:t>22-08-2026</a:t>
            </a:r>
          </a:p>
        </p:txBody>
      </p:sp>
      <p:sp>
        <p:nvSpPr>
          <p:cNvPr id="7" name="TextBox 6"/>
          <p:cNvSpPr txBox="1"/>
          <p:nvPr/>
        </p:nvSpPr>
        <p:spPr>
          <a:xfrm>
            <a:off x="9601200" y="6565392"/>
            <a:ext cx="2103120" cy="274320"/>
          </a:xfrm>
          <a:prstGeom prst="rect">
            <a:avLst/>
          </a:prstGeom>
          <a:noFill/>
        </p:spPr>
        <p:txBody>
          <a:bodyPr wrap="none">
            <a:spAutoFit/>
          </a:bodyPr>
          <a:lstStyle/>
          <a:p>
            <a:pPr algn="r">
              <a:defRPr sz="1200">
                <a:solidFill>
                  <a:srgbClr val="FFFFFF"/>
                </a:solidFill>
                <a:latin typeface="Calibri"/>
              </a:defRPr>
            </a:pPr>
            <a:r>
              <a:t>PRC-I  |  AdversarialShield</a:t>
            </a:r>
          </a:p>
        </p:txBody>
      </p:sp>
      <p:sp>
        <p:nvSpPr>
          <p:cNvPr id="8" name="TextBox 7"/>
          <p:cNvSpPr txBox="1"/>
          <p:nvPr/>
        </p:nvSpPr>
        <p:spPr>
          <a:xfrm>
            <a:off x="457200" y="1188720"/>
            <a:ext cx="11247120" cy="4572000"/>
          </a:xfrm>
          <a:prstGeom prst="rect">
            <a:avLst/>
          </a:prstGeom>
          <a:noFill/>
        </p:spPr>
        <p:txBody>
          <a:bodyPr wrap="square">
            <a:spAutoFit/>
          </a:bodyPr>
          <a:lstStyle/>
          <a:p>
            <a:pPr>
              <a:spcAft>
                <a:spcPts val="1000"/>
              </a:spcAft>
              <a:defRPr sz="2000">
                <a:solidFill>
                  <a:srgbClr val="212529"/>
                </a:solidFill>
                <a:latin typeface="Calibri"/>
              </a:defRPr>
            </a:pPr>
            <a:r>
              <a:t>Current ML-based NIDS are highly vulnerable to adversarial attacks, yet most security frameworks do not incorporate robustness evaluation or defense mechanisms.</a:t>
            </a:r>
            <a:br/>
            <a:r>
              <a:t/>
            </a:r>
            <a:br/>
            <a:r>
              <a:t>Key issues:</a:t>
            </a:r>
            <a:br/>
            <a:r>
              <a:t>• No standardized pipeline to test NIDS against adversarial examples.</a:t>
            </a:r>
            <a:br/>
            <a:r>
              <a:t>• Existing defenses (e.g., adversarial training) are computationally heavy and not tailored to network traffic feature spaces.</a:t>
            </a:r>
            <a:br/>
            <a:r>
              <a:t>• There is no unified robustness metric to compare models under multi‑intensity attacks.</a:t>
            </a:r>
            <a:br/>
            <a:r>
              <a:t/>
            </a:r>
            <a:br/>
            <a:r>
              <a:t>Our goal is to bridge this gap by developing a comprehensive evaluation and defense framework that quantifies and improves NIDS robustness.</a:t>
            </a:r>
          </a:p>
        </p:txBody>
      </p:sp>
      <p:pic>
        <p:nvPicPr>
          <p:cNvPr id="9" name="Picture 8">
            <a:extLst>
              <a:ext uri="{FF2B5EF4-FFF2-40B4-BE49-F238E27FC236}">
                <a16:creationId xmlns:a16="http://schemas.microsoft.com/office/drawing/2014/main" id="{8A1E4F36-1753-0867-ED5E-D624F2F98E9F}"/>
              </a:ext>
            </a:extLst>
          </p:cNvPr>
          <p:cNvPicPr>
            <a:picLocks noChangeAspect="1"/>
          </p:cNvPicPr>
          <p:nvPr/>
        </p:nvPicPr>
        <p:blipFill>
          <a:blip r:embed="rId2"/>
          <a:stretch>
            <a:fillRect/>
          </a:stretch>
        </p:blipFill>
        <p:spPr>
          <a:xfrm>
            <a:off x="74142" y="130057"/>
            <a:ext cx="1458484" cy="69086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5639" y="274320"/>
            <a:ext cx="11110451" cy="584775"/>
          </a:xfrm>
          <a:prstGeom prst="rect">
            <a:avLst/>
          </a:prstGeom>
          <a:noFill/>
        </p:spPr>
        <p:txBody>
          <a:bodyPr wrap="square">
            <a:spAutoFit/>
          </a:bodyPr>
          <a:lstStyle/>
          <a:p>
            <a:pPr algn="ctr">
              <a:defRPr sz="3200" b="1">
                <a:solidFill>
                  <a:srgbClr val="0B1E3B"/>
                </a:solidFill>
                <a:latin typeface="Calibri"/>
              </a:defRPr>
            </a:pPr>
            <a:r>
              <a:rPr dirty="0" smtClean="0"/>
              <a:t>Objectives</a:t>
            </a:r>
            <a:endParaRPr dirty="0"/>
          </a:p>
        </p:txBody>
      </p:sp>
      <p:sp>
        <p:nvSpPr>
          <p:cNvPr id="5" name="Rectangle 4"/>
          <p:cNvSpPr/>
          <p:nvPr/>
        </p:nvSpPr>
        <p:spPr>
          <a:xfrm>
            <a:off x="0" y="6537960"/>
            <a:ext cx="12191695" cy="320040"/>
          </a:xfrm>
          <a:prstGeom prst="rect">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65392"/>
            <a:ext cx="2743200" cy="274320"/>
          </a:xfrm>
          <a:prstGeom prst="rect">
            <a:avLst/>
          </a:prstGeom>
          <a:noFill/>
        </p:spPr>
        <p:txBody>
          <a:bodyPr wrap="none">
            <a:spAutoFit/>
          </a:bodyPr>
          <a:lstStyle/>
          <a:p>
            <a:pPr>
              <a:defRPr sz="1200">
                <a:solidFill>
                  <a:srgbClr val="FFFFFF"/>
                </a:solidFill>
                <a:latin typeface="Calibri"/>
              </a:defRPr>
            </a:pPr>
            <a:r>
              <a:t>22-08-2026</a:t>
            </a:r>
          </a:p>
        </p:txBody>
      </p:sp>
      <p:sp>
        <p:nvSpPr>
          <p:cNvPr id="7" name="TextBox 6"/>
          <p:cNvSpPr txBox="1"/>
          <p:nvPr/>
        </p:nvSpPr>
        <p:spPr>
          <a:xfrm>
            <a:off x="9601200" y="6565392"/>
            <a:ext cx="2103120" cy="274320"/>
          </a:xfrm>
          <a:prstGeom prst="rect">
            <a:avLst/>
          </a:prstGeom>
          <a:noFill/>
        </p:spPr>
        <p:txBody>
          <a:bodyPr wrap="none">
            <a:spAutoFit/>
          </a:bodyPr>
          <a:lstStyle/>
          <a:p>
            <a:pPr algn="r">
              <a:defRPr sz="1200">
                <a:solidFill>
                  <a:srgbClr val="FFFFFF"/>
                </a:solidFill>
                <a:latin typeface="Calibri"/>
              </a:defRPr>
            </a:pPr>
            <a:r>
              <a:t>PRC-I  |  AdversarialShield</a:t>
            </a:r>
          </a:p>
        </p:txBody>
      </p:sp>
      <p:sp>
        <p:nvSpPr>
          <p:cNvPr id="8" name="TextBox 7"/>
          <p:cNvSpPr txBox="1"/>
          <p:nvPr/>
        </p:nvSpPr>
        <p:spPr>
          <a:xfrm>
            <a:off x="457200" y="1188720"/>
            <a:ext cx="11247120" cy="4754880"/>
          </a:xfrm>
          <a:prstGeom prst="rect">
            <a:avLst/>
          </a:prstGeom>
          <a:noFill/>
        </p:spPr>
        <p:txBody>
          <a:bodyPr wrap="square">
            <a:spAutoFit/>
          </a:bodyPr>
          <a:lstStyle/>
          <a:p>
            <a:pPr>
              <a:spcAft>
                <a:spcPts val="1000"/>
              </a:spcAft>
              <a:defRPr sz="2000">
                <a:solidFill>
                  <a:srgbClr val="212529"/>
                </a:solidFill>
                <a:latin typeface="Calibri"/>
              </a:defRPr>
            </a:pPr>
            <a:r>
              <a:t>• Analyze existing adversarial attack techniques (FGSM, PGD) and defense strategies from literature.</a:t>
            </a:r>
          </a:p>
          <a:p>
            <a:pPr>
              <a:spcAft>
                <a:spcPts val="1000"/>
              </a:spcAft>
              <a:defRPr sz="2000">
                <a:solidFill>
                  <a:srgbClr val="212529"/>
                </a:solidFill>
                <a:latin typeface="Calibri"/>
              </a:defRPr>
            </a:pPr>
            <a:r>
              <a:t>• Design a modular pipeline for attack generation, defense implementation, and evaluation.</a:t>
            </a:r>
          </a:p>
          <a:p>
            <a:pPr>
              <a:spcAft>
                <a:spcPts val="1000"/>
              </a:spcAft>
              <a:defRPr sz="2000">
                <a:solidFill>
                  <a:srgbClr val="212529"/>
                </a:solidFill>
                <a:latin typeface="Calibri"/>
              </a:defRPr>
            </a:pPr>
            <a:r>
              <a:t>• Implement baseline ML models (Random Forest, SVM, DNN) and evaluate their clean‑data performance.</a:t>
            </a:r>
          </a:p>
          <a:p>
            <a:pPr>
              <a:spcAft>
                <a:spcPts val="1000"/>
              </a:spcAft>
              <a:defRPr sz="2000">
                <a:solidFill>
                  <a:srgbClr val="212529"/>
                </a:solidFill>
                <a:latin typeface="Calibri"/>
              </a:defRPr>
            </a:pPr>
            <a:r>
              <a:t>• Develop a hybrid defense combining adversarial training, input sanitization, and ensemble voting.</a:t>
            </a:r>
          </a:p>
          <a:p>
            <a:pPr>
              <a:spcAft>
                <a:spcPts val="1000"/>
              </a:spcAft>
              <a:defRPr sz="2000">
                <a:solidFill>
                  <a:srgbClr val="212529"/>
                </a:solidFill>
                <a:latin typeface="Calibri"/>
              </a:defRPr>
            </a:pPr>
            <a:r>
              <a:t>• Create a custom robustness scoring metric that accounts for performance under varying attack intensities.</a:t>
            </a:r>
          </a:p>
          <a:p>
            <a:pPr>
              <a:spcAft>
                <a:spcPts val="1000"/>
              </a:spcAft>
              <a:defRPr sz="2000">
                <a:solidFill>
                  <a:srgbClr val="212529"/>
                </a:solidFill>
                <a:latin typeface="Calibri"/>
              </a:defRPr>
            </a:pPr>
            <a:r>
              <a:t>• Validate the framework on public NIDS datasets: NSL‑KDD, CICIDS2017, and UNSW‑NB15.</a:t>
            </a:r>
          </a:p>
        </p:txBody>
      </p:sp>
      <p:pic>
        <p:nvPicPr>
          <p:cNvPr id="9" name="Picture 8">
            <a:extLst>
              <a:ext uri="{FF2B5EF4-FFF2-40B4-BE49-F238E27FC236}">
                <a16:creationId xmlns:a16="http://schemas.microsoft.com/office/drawing/2014/main" id="{8A1E4F36-1753-0867-ED5E-D624F2F98E9F}"/>
              </a:ext>
            </a:extLst>
          </p:cNvPr>
          <p:cNvPicPr>
            <a:picLocks noChangeAspect="1"/>
          </p:cNvPicPr>
          <p:nvPr/>
        </p:nvPicPr>
        <p:blipFill>
          <a:blip r:embed="rId2"/>
          <a:stretch>
            <a:fillRect/>
          </a:stretch>
        </p:blipFill>
        <p:spPr>
          <a:xfrm>
            <a:off x="74142" y="130057"/>
            <a:ext cx="1458484" cy="69086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942" y="274320"/>
            <a:ext cx="11264817" cy="584775"/>
          </a:xfrm>
          <a:prstGeom prst="rect">
            <a:avLst/>
          </a:prstGeom>
          <a:noFill/>
        </p:spPr>
        <p:txBody>
          <a:bodyPr wrap="square">
            <a:spAutoFit/>
          </a:bodyPr>
          <a:lstStyle/>
          <a:p>
            <a:pPr algn="ctr">
              <a:defRPr sz="3200" b="1">
                <a:solidFill>
                  <a:srgbClr val="0B1E3B"/>
                </a:solidFill>
                <a:latin typeface="Calibri"/>
              </a:defRPr>
            </a:pPr>
            <a:r>
              <a:rPr dirty="0"/>
              <a:t>Literature </a:t>
            </a:r>
            <a:r>
              <a:rPr dirty="0" smtClean="0"/>
              <a:t>Survey</a:t>
            </a:r>
            <a:endParaRPr dirty="0"/>
          </a:p>
        </p:txBody>
      </p:sp>
      <p:sp>
        <p:nvSpPr>
          <p:cNvPr id="5" name="Rectangle 4"/>
          <p:cNvSpPr/>
          <p:nvPr/>
        </p:nvSpPr>
        <p:spPr>
          <a:xfrm>
            <a:off x="0" y="6537960"/>
            <a:ext cx="12191695" cy="320040"/>
          </a:xfrm>
          <a:prstGeom prst="rect">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65392"/>
            <a:ext cx="2743200" cy="274320"/>
          </a:xfrm>
          <a:prstGeom prst="rect">
            <a:avLst/>
          </a:prstGeom>
          <a:noFill/>
        </p:spPr>
        <p:txBody>
          <a:bodyPr wrap="none">
            <a:spAutoFit/>
          </a:bodyPr>
          <a:lstStyle/>
          <a:p>
            <a:pPr>
              <a:defRPr sz="1200">
                <a:solidFill>
                  <a:srgbClr val="FFFFFF"/>
                </a:solidFill>
                <a:latin typeface="Calibri"/>
              </a:defRPr>
            </a:pPr>
            <a:r>
              <a:t>22-08-2026</a:t>
            </a:r>
          </a:p>
        </p:txBody>
      </p:sp>
      <p:sp>
        <p:nvSpPr>
          <p:cNvPr id="7" name="TextBox 6"/>
          <p:cNvSpPr txBox="1"/>
          <p:nvPr/>
        </p:nvSpPr>
        <p:spPr>
          <a:xfrm>
            <a:off x="9601200" y="6565392"/>
            <a:ext cx="2103120" cy="274320"/>
          </a:xfrm>
          <a:prstGeom prst="rect">
            <a:avLst/>
          </a:prstGeom>
          <a:noFill/>
        </p:spPr>
        <p:txBody>
          <a:bodyPr wrap="none">
            <a:spAutoFit/>
          </a:bodyPr>
          <a:lstStyle/>
          <a:p>
            <a:pPr algn="r">
              <a:defRPr sz="1200">
                <a:solidFill>
                  <a:srgbClr val="FFFFFF"/>
                </a:solidFill>
                <a:latin typeface="Calibri"/>
              </a:defRPr>
            </a:pPr>
            <a:r>
              <a:t>PRC-I  |  AdversarialShield</a:t>
            </a:r>
          </a:p>
        </p:txBody>
      </p:sp>
      <p:graphicFrame>
        <p:nvGraphicFramePr>
          <p:cNvPr id="8" name="Table 7"/>
          <p:cNvGraphicFramePr>
            <a:graphicFrameLocks noGrp="1"/>
          </p:cNvGraphicFramePr>
          <p:nvPr/>
        </p:nvGraphicFramePr>
        <p:xfrm>
          <a:off x="365760" y="1097280"/>
          <a:ext cx="11430000" cy="4937760"/>
        </p:xfrm>
        <a:graphic>
          <a:graphicData uri="http://schemas.openxmlformats.org/drawingml/2006/table">
            <a:tbl>
              <a:tblPr firstRow="1" bandRow="1">
                <a:tableStyleId>{5C22544A-7EE6-4342-B048-85BDC9FD1C3A}</a:tableStyleId>
              </a:tblPr>
              <a:tblGrid>
                <a:gridCol w="95250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gridCol w="952500">
                  <a:extLst>
                    <a:ext uri="{9D8B030D-6E8A-4147-A177-3AD203B41FA5}">
                      <a16:colId xmlns:a16="http://schemas.microsoft.com/office/drawing/2014/main" val="20004"/>
                    </a:ext>
                  </a:extLst>
                </a:gridCol>
                <a:gridCol w="952500">
                  <a:extLst>
                    <a:ext uri="{9D8B030D-6E8A-4147-A177-3AD203B41FA5}">
                      <a16:colId xmlns:a16="http://schemas.microsoft.com/office/drawing/2014/main" val="20005"/>
                    </a:ext>
                  </a:extLst>
                </a:gridCol>
                <a:gridCol w="952500">
                  <a:extLst>
                    <a:ext uri="{9D8B030D-6E8A-4147-A177-3AD203B41FA5}">
                      <a16:colId xmlns:a16="http://schemas.microsoft.com/office/drawing/2014/main" val="20006"/>
                    </a:ext>
                  </a:extLst>
                </a:gridCol>
                <a:gridCol w="952500">
                  <a:extLst>
                    <a:ext uri="{9D8B030D-6E8A-4147-A177-3AD203B41FA5}">
                      <a16:colId xmlns:a16="http://schemas.microsoft.com/office/drawing/2014/main" val="20007"/>
                    </a:ext>
                  </a:extLst>
                </a:gridCol>
                <a:gridCol w="952500">
                  <a:extLst>
                    <a:ext uri="{9D8B030D-6E8A-4147-A177-3AD203B41FA5}">
                      <a16:colId xmlns:a16="http://schemas.microsoft.com/office/drawing/2014/main" val="20008"/>
                    </a:ext>
                  </a:extLst>
                </a:gridCol>
                <a:gridCol w="952500">
                  <a:extLst>
                    <a:ext uri="{9D8B030D-6E8A-4147-A177-3AD203B41FA5}">
                      <a16:colId xmlns:a16="http://schemas.microsoft.com/office/drawing/2014/main" val="20009"/>
                    </a:ext>
                  </a:extLst>
                </a:gridCol>
                <a:gridCol w="952500">
                  <a:extLst>
                    <a:ext uri="{9D8B030D-6E8A-4147-A177-3AD203B41FA5}">
                      <a16:colId xmlns:a16="http://schemas.microsoft.com/office/drawing/2014/main" val="20010"/>
                    </a:ext>
                  </a:extLst>
                </a:gridCol>
                <a:gridCol w="952500">
                  <a:extLst>
                    <a:ext uri="{9D8B030D-6E8A-4147-A177-3AD203B41FA5}">
                      <a16:colId xmlns:a16="http://schemas.microsoft.com/office/drawing/2014/main" val="20011"/>
                    </a:ext>
                  </a:extLst>
                </a:gridCol>
              </a:tblGrid>
              <a:tr h="705394">
                <a:tc>
                  <a:txBody>
                    <a:bodyPr/>
                    <a:lstStyle/>
                    <a:p>
                      <a:pPr algn="ctr">
                        <a:defRPr sz="900" b="1">
                          <a:solidFill>
                            <a:srgbClr val="FFFFFF"/>
                          </a:solidFill>
                        </a:defRPr>
                      </a:pPr>
                      <a:r>
                        <a:t>Sl No</a:t>
                      </a:r>
                    </a:p>
                  </a:txBody>
                  <a:tcPr>
                    <a:solidFill>
                      <a:srgbClr val="0B1E3B"/>
                    </a:solidFill>
                  </a:tcPr>
                </a:tc>
                <a:tc>
                  <a:txBody>
                    <a:bodyPr/>
                    <a:lstStyle/>
                    <a:p>
                      <a:pPr algn="ctr">
                        <a:defRPr sz="900" b="1">
                          <a:solidFill>
                            <a:srgbClr val="FFFFFF"/>
                          </a:solidFill>
                        </a:defRPr>
                      </a:pPr>
                      <a:r>
                        <a:t>Year</a:t>
                      </a:r>
                    </a:p>
                  </a:txBody>
                  <a:tcPr>
                    <a:solidFill>
                      <a:srgbClr val="0B1E3B"/>
                    </a:solidFill>
                  </a:tcPr>
                </a:tc>
                <a:tc>
                  <a:txBody>
                    <a:bodyPr/>
                    <a:lstStyle/>
                    <a:p>
                      <a:pPr algn="ctr">
                        <a:defRPr sz="900" b="1">
                          <a:solidFill>
                            <a:srgbClr val="FFFFFF"/>
                          </a:solidFill>
                        </a:defRPr>
                      </a:pPr>
                      <a:r>
                        <a:t>Authors</a:t>
                      </a:r>
                    </a:p>
                  </a:txBody>
                  <a:tcPr>
                    <a:solidFill>
                      <a:srgbClr val="0B1E3B"/>
                    </a:solidFill>
                  </a:tcPr>
                </a:tc>
                <a:tc>
                  <a:txBody>
                    <a:bodyPr/>
                    <a:lstStyle/>
                    <a:p>
                      <a:pPr algn="ctr">
                        <a:defRPr sz="900" b="1">
                          <a:solidFill>
                            <a:srgbClr val="FFFFFF"/>
                          </a:solidFill>
                        </a:defRPr>
                      </a:pPr>
                      <a:r>
                        <a:t>Title of the paper</a:t>
                      </a:r>
                    </a:p>
                  </a:txBody>
                  <a:tcPr>
                    <a:solidFill>
                      <a:srgbClr val="0B1E3B"/>
                    </a:solidFill>
                  </a:tcPr>
                </a:tc>
                <a:tc>
                  <a:txBody>
                    <a:bodyPr/>
                    <a:lstStyle/>
                    <a:p>
                      <a:pPr algn="ctr">
                        <a:defRPr sz="900" b="1">
                          <a:solidFill>
                            <a:srgbClr val="FFFFFF"/>
                          </a:solidFill>
                        </a:defRPr>
                      </a:pPr>
                      <a:r>
                        <a:t>Source Journal /Conference name</a:t>
                      </a:r>
                    </a:p>
                  </a:txBody>
                  <a:tcPr>
                    <a:solidFill>
                      <a:srgbClr val="0B1E3B"/>
                    </a:solidFill>
                  </a:tcPr>
                </a:tc>
                <a:tc>
                  <a:txBody>
                    <a:bodyPr/>
                    <a:lstStyle/>
                    <a:p>
                      <a:pPr algn="ctr">
                        <a:defRPr sz="900" b="1">
                          <a:solidFill>
                            <a:srgbClr val="FFFFFF"/>
                          </a:solidFill>
                        </a:defRPr>
                      </a:pPr>
                      <a:r>
                        <a:t>Objective of the paper</a:t>
                      </a:r>
                    </a:p>
                  </a:txBody>
                  <a:tcPr>
                    <a:solidFill>
                      <a:srgbClr val="0B1E3B"/>
                    </a:solidFill>
                  </a:tcPr>
                </a:tc>
                <a:tc>
                  <a:txBody>
                    <a:bodyPr/>
                    <a:lstStyle/>
                    <a:p>
                      <a:pPr algn="ctr">
                        <a:defRPr sz="900" b="1">
                          <a:solidFill>
                            <a:srgbClr val="FFFFFF"/>
                          </a:solidFill>
                        </a:defRPr>
                      </a:pPr>
                      <a:r>
                        <a:t>Techniques Used</a:t>
                      </a:r>
                    </a:p>
                  </a:txBody>
                  <a:tcPr>
                    <a:solidFill>
                      <a:srgbClr val="0B1E3B"/>
                    </a:solidFill>
                  </a:tcPr>
                </a:tc>
                <a:tc>
                  <a:txBody>
                    <a:bodyPr/>
                    <a:lstStyle/>
                    <a:p>
                      <a:pPr algn="ctr">
                        <a:defRPr sz="900" b="1">
                          <a:solidFill>
                            <a:srgbClr val="FFFFFF"/>
                          </a:solidFill>
                        </a:defRPr>
                      </a:pPr>
                      <a:r>
                        <a:t>Dataset Used</a:t>
                      </a:r>
                    </a:p>
                  </a:txBody>
                  <a:tcPr>
                    <a:solidFill>
                      <a:srgbClr val="0B1E3B"/>
                    </a:solidFill>
                  </a:tcPr>
                </a:tc>
                <a:tc>
                  <a:txBody>
                    <a:bodyPr/>
                    <a:lstStyle/>
                    <a:p>
                      <a:pPr algn="ctr">
                        <a:defRPr sz="900" b="1">
                          <a:solidFill>
                            <a:srgbClr val="FFFFFF"/>
                          </a:solidFill>
                        </a:defRPr>
                      </a:pPr>
                      <a:r>
                        <a:t>Parameters Analysed</a:t>
                      </a:r>
                    </a:p>
                  </a:txBody>
                  <a:tcPr>
                    <a:solidFill>
                      <a:srgbClr val="0B1E3B"/>
                    </a:solidFill>
                  </a:tcPr>
                </a:tc>
                <a:tc>
                  <a:txBody>
                    <a:bodyPr/>
                    <a:lstStyle/>
                    <a:p>
                      <a:pPr algn="ctr">
                        <a:defRPr sz="900" b="1">
                          <a:solidFill>
                            <a:srgbClr val="FFFFFF"/>
                          </a:solidFill>
                        </a:defRPr>
                      </a:pPr>
                      <a:r>
                        <a:t>Research Inference</a:t>
                      </a:r>
                    </a:p>
                  </a:txBody>
                  <a:tcPr>
                    <a:solidFill>
                      <a:srgbClr val="0B1E3B"/>
                    </a:solidFill>
                  </a:tcPr>
                </a:tc>
                <a:tc>
                  <a:txBody>
                    <a:bodyPr/>
                    <a:lstStyle/>
                    <a:p>
                      <a:pPr algn="ctr">
                        <a:defRPr sz="900" b="1">
                          <a:solidFill>
                            <a:srgbClr val="FFFFFF"/>
                          </a:solidFill>
                        </a:defRPr>
                      </a:pPr>
                      <a:r>
                        <a:t>Research Gap</a:t>
                      </a:r>
                    </a:p>
                  </a:txBody>
                  <a:tcPr>
                    <a:solidFill>
                      <a:srgbClr val="0B1E3B"/>
                    </a:solidFill>
                  </a:tcPr>
                </a:tc>
                <a:tc>
                  <a:txBody>
                    <a:bodyPr/>
                    <a:lstStyle/>
                    <a:p>
                      <a:pPr algn="ctr">
                        <a:defRPr sz="900" b="1">
                          <a:solidFill>
                            <a:srgbClr val="FFFFFF"/>
                          </a:solidFill>
                        </a:defRPr>
                      </a:pPr>
                      <a:r>
                        <a:t>DOI of the paper</a:t>
                      </a:r>
                    </a:p>
                  </a:txBody>
                  <a:tcPr>
                    <a:solidFill>
                      <a:srgbClr val="0B1E3B"/>
                    </a:solidFill>
                  </a:tcPr>
                </a:tc>
                <a:extLst>
                  <a:ext uri="{0D108BD9-81ED-4DB2-BD59-A6C34878D82A}">
                    <a16:rowId xmlns:a16="http://schemas.microsoft.com/office/drawing/2014/main" val="10000"/>
                  </a:ext>
                </a:extLst>
              </a:tr>
              <a:tr h="705394">
                <a:tc>
                  <a:txBody>
                    <a:bodyPr/>
                    <a:lstStyle/>
                    <a:p>
                      <a:pPr algn="l">
                        <a:defRPr sz="700">
                          <a:solidFill>
                            <a:srgbClr val="212529"/>
                          </a:solidFill>
                        </a:defRPr>
                      </a:pPr>
                      <a:r>
                        <a:t>1</a:t>
                      </a:r>
                    </a:p>
                  </a:txBody>
                  <a:tcPr>
                    <a:solidFill>
                      <a:srgbClr val="F8F9FA"/>
                    </a:solidFill>
                  </a:tcPr>
                </a:tc>
                <a:tc>
                  <a:txBody>
                    <a:bodyPr/>
                    <a:lstStyle/>
                    <a:p>
                      <a:pPr algn="l">
                        <a:defRPr sz="700">
                          <a:solidFill>
                            <a:srgbClr val="212529"/>
                          </a:solidFill>
                        </a:defRPr>
                      </a:pPr>
                      <a:r>
                        <a:t>2020</a:t>
                      </a:r>
                    </a:p>
                  </a:txBody>
                  <a:tcPr>
                    <a:solidFill>
                      <a:srgbClr val="F8F9FA"/>
                    </a:solidFill>
                  </a:tcPr>
                </a:tc>
                <a:tc>
                  <a:txBody>
                    <a:bodyPr/>
                    <a:lstStyle/>
                    <a:p>
                      <a:pPr algn="l">
                        <a:defRPr sz="700">
                          <a:solidFill>
                            <a:srgbClr val="212529"/>
                          </a:solidFill>
                        </a:defRPr>
                      </a:pPr>
                      <a:r>
                        <a:t>Wang et al.</a:t>
                      </a:r>
                    </a:p>
                  </a:txBody>
                  <a:tcPr>
                    <a:solidFill>
                      <a:srgbClr val="F8F9FA"/>
                    </a:solidFill>
                  </a:tcPr>
                </a:tc>
                <a:tc>
                  <a:txBody>
                    <a:bodyPr/>
                    <a:lstStyle/>
                    <a:p>
                      <a:pPr algn="l">
                        <a:defRPr sz="700">
                          <a:solidFill>
                            <a:srgbClr val="212529"/>
                          </a:solidFill>
                        </a:defRPr>
                      </a:pPr>
                      <a:r>
                        <a:t>Evasion Attacks against ML-based IDS</a:t>
                      </a:r>
                    </a:p>
                  </a:txBody>
                  <a:tcPr>
                    <a:solidFill>
                      <a:srgbClr val="F8F9FA"/>
                    </a:solidFill>
                  </a:tcPr>
                </a:tc>
                <a:tc>
                  <a:txBody>
                    <a:bodyPr/>
                    <a:lstStyle/>
                    <a:p>
                      <a:pPr algn="l">
                        <a:defRPr sz="700">
                          <a:solidFill>
                            <a:srgbClr val="212529"/>
                          </a:solidFill>
                        </a:defRPr>
                      </a:pPr>
                      <a:r>
                        <a:t>NDSS</a:t>
                      </a:r>
                    </a:p>
                  </a:txBody>
                  <a:tcPr>
                    <a:solidFill>
                      <a:srgbClr val="F8F9FA"/>
                    </a:solidFill>
                  </a:tcPr>
                </a:tc>
                <a:tc>
                  <a:txBody>
                    <a:bodyPr/>
                    <a:lstStyle/>
                    <a:p>
                      <a:pPr algn="l">
                        <a:defRPr sz="700">
                          <a:solidFill>
                            <a:srgbClr val="212529"/>
                          </a:solidFill>
                        </a:defRPr>
                      </a:pPr>
                      <a:r>
                        <a:t>Analyze evasion techniques</a:t>
                      </a:r>
                    </a:p>
                  </a:txBody>
                  <a:tcPr>
                    <a:solidFill>
                      <a:srgbClr val="F8F9FA"/>
                    </a:solidFill>
                  </a:tcPr>
                </a:tc>
                <a:tc>
                  <a:txBody>
                    <a:bodyPr/>
                    <a:lstStyle/>
                    <a:p>
                      <a:pPr algn="l">
                        <a:defRPr sz="700">
                          <a:solidFill>
                            <a:srgbClr val="212529"/>
                          </a:solidFill>
                        </a:defRPr>
                      </a:pPr>
                      <a:r>
                        <a:t>GAN-based generation</a:t>
                      </a:r>
                    </a:p>
                  </a:txBody>
                  <a:tcPr>
                    <a:solidFill>
                      <a:srgbClr val="F8F9FA"/>
                    </a:solidFill>
                  </a:tcPr>
                </a:tc>
                <a:tc>
                  <a:txBody>
                    <a:bodyPr/>
                    <a:lstStyle/>
                    <a:p>
                      <a:pPr algn="l">
                        <a:defRPr sz="700">
                          <a:solidFill>
                            <a:srgbClr val="212529"/>
                          </a:solidFill>
                        </a:defRPr>
                      </a:pPr>
                      <a:r>
                        <a:t>CICIDS2017</a:t>
                      </a:r>
                    </a:p>
                  </a:txBody>
                  <a:tcPr>
                    <a:solidFill>
                      <a:srgbClr val="F8F9FA"/>
                    </a:solidFill>
                  </a:tcPr>
                </a:tc>
                <a:tc>
                  <a:txBody>
                    <a:bodyPr/>
                    <a:lstStyle/>
                    <a:p>
                      <a:pPr algn="l">
                        <a:defRPr sz="700">
                          <a:solidFill>
                            <a:srgbClr val="212529"/>
                          </a:solidFill>
                        </a:defRPr>
                      </a:pPr>
                      <a:r>
                        <a:t>Accuracy, FPR</a:t>
                      </a:r>
                    </a:p>
                  </a:txBody>
                  <a:tcPr>
                    <a:solidFill>
                      <a:srgbClr val="F8F9FA"/>
                    </a:solidFill>
                  </a:tcPr>
                </a:tc>
                <a:tc>
                  <a:txBody>
                    <a:bodyPr/>
                    <a:lstStyle/>
                    <a:p>
                      <a:pPr algn="l">
                        <a:defRPr sz="700">
                          <a:solidFill>
                            <a:srgbClr val="212529"/>
                          </a:solidFill>
                        </a:defRPr>
                      </a:pPr>
                      <a:r>
                        <a:t>Adversarial samples reduce accuracy by 40%</a:t>
                      </a:r>
                    </a:p>
                  </a:txBody>
                  <a:tcPr>
                    <a:solidFill>
                      <a:srgbClr val="F8F9FA"/>
                    </a:solidFill>
                  </a:tcPr>
                </a:tc>
                <a:tc>
                  <a:txBody>
                    <a:bodyPr/>
                    <a:lstStyle/>
                    <a:p>
                      <a:pPr algn="l">
                        <a:defRPr sz="700">
                          <a:solidFill>
                            <a:srgbClr val="212529"/>
                          </a:solidFill>
                        </a:defRPr>
                      </a:pPr>
                      <a:r>
                        <a:t>Lacks multi-attack unified defense</a:t>
                      </a:r>
                    </a:p>
                  </a:txBody>
                  <a:tcPr>
                    <a:solidFill>
                      <a:srgbClr val="F8F9FA"/>
                    </a:solidFill>
                  </a:tcPr>
                </a:tc>
                <a:tc>
                  <a:txBody>
                    <a:bodyPr/>
                    <a:lstStyle/>
                    <a:p>
                      <a:pPr algn="l">
                        <a:defRPr sz="700">
                          <a:solidFill>
                            <a:srgbClr val="212529"/>
                          </a:solidFill>
                        </a:defRPr>
                      </a:pPr>
                      <a:r>
                        <a:t>10.14722/ndss.2020</a:t>
                      </a:r>
                    </a:p>
                  </a:txBody>
                  <a:tcPr>
                    <a:solidFill>
                      <a:srgbClr val="F8F9FA"/>
                    </a:solidFill>
                  </a:tcPr>
                </a:tc>
                <a:extLst>
                  <a:ext uri="{0D108BD9-81ED-4DB2-BD59-A6C34878D82A}">
                    <a16:rowId xmlns:a16="http://schemas.microsoft.com/office/drawing/2014/main" val="10001"/>
                  </a:ext>
                </a:extLst>
              </a:tr>
              <a:tr h="705394">
                <a:tc>
                  <a:txBody>
                    <a:bodyPr/>
                    <a:lstStyle/>
                    <a:p>
                      <a:pPr algn="l">
                        <a:defRPr sz="700">
                          <a:solidFill>
                            <a:srgbClr val="212529"/>
                          </a:solidFill>
                        </a:defRPr>
                      </a:pPr>
                      <a:r>
                        <a:t>2</a:t>
                      </a:r>
                    </a:p>
                  </a:txBody>
                  <a:tcPr>
                    <a:solidFill>
                      <a:srgbClr val="FFFFFF"/>
                    </a:solidFill>
                  </a:tcPr>
                </a:tc>
                <a:tc>
                  <a:txBody>
                    <a:bodyPr/>
                    <a:lstStyle/>
                    <a:p>
                      <a:pPr algn="l">
                        <a:defRPr sz="700">
                          <a:solidFill>
                            <a:srgbClr val="212529"/>
                          </a:solidFill>
                        </a:defRPr>
                      </a:pPr>
                      <a:r>
                        <a:t>2021</a:t>
                      </a:r>
                    </a:p>
                  </a:txBody>
                  <a:tcPr>
                    <a:solidFill>
                      <a:srgbClr val="FFFFFF"/>
                    </a:solidFill>
                  </a:tcPr>
                </a:tc>
                <a:tc>
                  <a:txBody>
                    <a:bodyPr/>
                    <a:lstStyle/>
                    <a:p>
                      <a:pPr algn="l">
                        <a:defRPr sz="700">
                          <a:solidFill>
                            <a:srgbClr val="212529"/>
                          </a:solidFill>
                        </a:defRPr>
                      </a:pPr>
                      <a:r>
                        <a:t>Zhang et al.</a:t>
                      </a:r>
                    </a:p>
                  </a:txBody>
                  <a:tcPr>
                    <a:solidFill>
                      <a:srgbClr val="FFFFFF"/>
                    </a:solidFill>
                  </a:tcPr>
                </a:tc>
                <a:tc>
                  <a:txBody>
                    <a:bodyPr/>
                    <a:lstStyle/>
                    <a:p>
                      <a:pPr algn="l">
                        <a:defRPr sz="700">
                          <a:solidFill>
                            <a:srgbClr val="212529"/>
                          </a:solidFill>
                        </a:defRPr>
                      </a:pPr>
                      <a:r>
                        <a:t>Adversarial Examples in Network Traffic</a:t>
                      </a:r>
                    </a:p>
                  </a:txBody>
                  <a:tcPr>
                    <a:solidFill>
                      <a:srgbClr val="FFFFFF"/>
                    </a:solidFill>
                  </a:tcPr>
                </a:tc>
                <a:tc>
                  <a:txBody>
                    <a:bodyPr/>
                    <a:lstStyle/>
                    <a:p>
                      <a:pPr algn="l">
                        <a:defRPr sz="700">
                          <a:solidFill>
                            <a:srgbClr val="212529"/>
                          </a:solidFill>
                        </a:defRPr>
                      </a:pPr>
                      <a:r>
                        <a:t>IEEE TIFS</a:t>
                      </a:r>
                    </a:p>
                  </a:txBody>
                  <a:tcPr>
                    <a:solidFill>
                      <a:srgbClr val="FFFFFF"/>
                    </a:solidFill>
                  </a:tcPr>
                </a:tc>
                <a:tc>
                  <a:txBody>
                    <a:bodyPr/>
                    <a:lstStyle/>
                    <a:p>
                      <a:pPr algn="l">
                        <a:defRPr sz="700">
                          <a:solidFill>
                            <a:srgbClr val="212529"/>
                          </a:solidFill>
                        </a:defRPr>
                      </a:pPr>
                      <a:r>
                        <a:t>Generate transferable attacks</a:t>
                      </a:r>
                    </a:p>
                  </a:txBody>
                  <a:tcPr>
                    <a:solidFill>
                      <a:srgbClr val="FFFFFF"/>
                    </a:solidFill>
                  </a:tcPr>
                </a:tc>
                <a:tc>
                  <a:txBody>
                    <a:bodyPr/>
                    <a:lstStyle/>
                    <a:p>
                      <a:pPr algn="l">
                        <a:defRPr sz="700">
                          <a:solidFill>
                            <a:srgbClr val="212529"/>
                          </a:solidFill>
                        </a:defRPr>
                      </a:pPr>
                      <a:r>
                        <a:t>FGSM, PGD</a:t>
                      </a:r>
                    </a:p>
                  </a:txBody>
                  <a:tcPr>
                    <a:solidFill>
                      <a:srgbClr val="FFFFFF"/>
                    </a:solidFill>
                  </a:tcPr>
                </a:tc>
                <a:tc>
                  <a:txBody>
                    <a:bodyPr/>
                    <a:lstStyle/>
                    <a:p>
                      <a:pPr algn="l">
                        <a:defRPr sz="700">
                          <a:solidFill>
                            <a:srgbClr val="212529"/>
                          </a:solidFill>
                        </a:defRPr>
                      </a:pPr>
                      <a:r>
                        <a:t>UNSW-NB15</a:t>
                      </a:r>
                    </a:p>
                  </a:txBody>
                  <a:tcPr>
                    <a:solidFill>
                      <a:srgbClr val="FFFFFF"/>
                    </a:solidFill>
                  </a:tcPr>
                </a:tc>
                <a:tc>
                  <a:txBody>
                    <a:bodyPr/>
                    <a:lstStyle/>
                    <a:p>
                      <a:pPr algn="l">
                        <a:defRPr sz="700">
                          <a:solidFill>
                            <a:srgbClr val="212529"/>
                          </a:solidFill>
                        </a:defRPr>
                      </a:pPr>
                      <a:r>
                        <a:t>Precision, Recall</a:t>
                      </a:r>
                    </a:p>
                  </a:txBody>
                  <a:tcPr>
                    <a:solidFill>
                      <a:srgbClr val="FFFFFF"/>
                    </a:solidFill>
                  </a:tcPr>
                </a:tc>
                <a:tc>
                  <a:txBody>
                    <a:bodyPr/>
                    <a:lstStyle/>
                    <a:p>
                      <a:pPr algn="l">
                        <a:defRPr sz="700">
                          <a:solidFill>
                            <a:srgbClr val="212529"/>
                          </a:solidFill>
                        </a:defRPr>
                      </a:pPr>
                      <a:r>
                        <a:t>Attacks transfer across models</a:t>
                      </a:r>
                    </a:p>
                  </a:txBody>
                  <a:tcPr>
                    <a:solidFill>
                      <a:srgbClr val="FFFFFF"/>
                    </a:solidFill>
                  </a:tcPr>
                </a:tc>
                <a:tc>
                  <a:txBody>
                    <a:bodyPr/>
                    <a:lstStyle/>
                    <a:p>
                      <a:pPr algn="l">
                        <a:defRPr sz="700">
                          <a:solidFill>
                            <a:srgbClr val="212529"/>
                          </a:solidFill>
                        </a:defRPr>
                      </a:pPr>
                      <a:r>
                        <a:t>No hybrid defense strategy</a:t>
                      </a:r>
                    </a:p>
                  </a:txBody>
                  <a:tcPr>
                    <a:solidFill>
                      <a:srgbClr val="FFFFFF"/>
                    </a:solidFill>
                  </a:tcPr>
                </a:tc>
                <a:tc>
                  <a:txBody>
                    <a:bodyPr/>
                    <a:lstStyle/>
                    <a:p>
                      <a:pPr algn="l">
                        <a:defRPr sz="700">
                          <a:solidFill>
                            <a:srgbClr val="212529"/>
                          </a:solidFill>
                        </a:defRPr>
                      </a:pPr>
                      <a:r>
                        <a:t>10.1109/TIFS.2021</a:t>
                      </a:r>
                    </a:p>
                  </a:txBody>
                  <a:tcPr>
                    <a:solidFill>
                      <a:srgbClr val="FFFFFF"/>
                    </a:solidFill>
                  </a:tcPr>
                </a:tc>
                <a:extLst>
                  <a:ext uri="{0D108BD9-81ED-4DB2-BD59-A6C34878D82A}">
                    <a16:rowId xmlns:a16="http://schemas.microsoft.com/office/drawing/2014/main" val="10002"/>
                  </a:ext>
                </a:extLst>
              </a:tr>
              <a:tr h="705394">
                <a:tc>
                  <a:txBody>
                    <a:bodyPr/>
                    <a:lstStyle/>
                    <a:p>
                      <a:pPr algn="l">
                        <a:defRPr sz="700">
                          <a:solidFill>
                            <a:srgbClr val="212529"/>
                          </a:solidFill>
                        </a:defRPr>
                      </a:pPr>
                      <a:r>
                        <a:t>3</a:t>
                      </a:r>
                    </a:p>
                  </a:txBody>
                  <a:tcPr>
                    <a:solidFill>
                      <a:srgbClr val="F8F9FA"/>
                    </a:solidFill>
                  </a:tcPr>
                </a:tc>
                <a:tc>
                  <a:txBody>
                    <a:bodyPr/>
                    <a:lstStyle/>
                    <a:p>
                      <a:pPr algn="l">
                        <a:defRPr sz="700">
                          <a:solidFill>
                            <a:srgbClr val="212529"/>
                          </a:solidFill>
                        </a:defRPr>
                      </a:pPr>
                      <a:r>
                        <a:t>2022</a:t>
                      </a:r>
                    </a:p>
                  </a:txBody>
                  <a:tcPr>
                    <a:solidFill>
                      <a:srgbClr val="F8F9FA"/>
                    </a:solidFill>
                  </a:tcPr>
                </a:tc>
                <a:tc>
                  <a:txBody>
                    <a:bodyPr/>
                    <a:lstStyle/>
                    <a:p>
                      <a:pPr algn="l">
                        <a:defRPr sz="700">
                          <a:solidFill>
                            <a:srgbClr val="212529"/>
                          </a:solidFill>
                        </a:defRPr>
                      </a:pPr>
                      <a:r>
                        <a:t>Lin et al.</a:t>
                      </a:r>
                    </a:p>
                  </a:txBody>
                  <a:tcPr>
                    <a:solidFill>
                      <a:srgbClr val="F8F9FA"/>
                    </a:solidFill>
                  </a:tcPr>
                </a:tc>
                <a:tc>
                  <a:txBody>
                    <a:bodyPr/>
                    <a:lstStyle/>
                    <a:p>
                      <a:pPr algn="l">
                        <a:defRPr sz="700">
                          <a:solidFill>
                            <a:srgbClr val="212529"/>
                          </a:solidFill>
                        </a:defRPr>
                      </a:pPr>
                      <a:r>
                        <a:t>Adversarial Attacks/Defenses in NIDS: Survey</a:t>
                      </a:r>
                    </a:p>
                  </a:txBody>
                  <a:tcPr>
                    <a:solidFill>
                      <a:srgbClr val="F8F9FA"/>
                    </a:solidFill>
                  </a:tcPr>
                </a:tc>
                <a:tc>
                  <a:txBody>
                    <a:bodyPr/>
                    <a:lstStyle/>
                    <a:p>
                      <a:pPr algn="l">
                        <a:defRPr sz="700">
                          <a:solidFill>
                            <a:srgbClr val="212529"/>
                          </a:solidFill>
                        </a:defRPr>
                      </a:pPr>
                      <a:r>
                        <a:t>ACM CSUR</a:t>
                      </a:r>
                    </a:p>
                  </a:txBody>
                  <a:tcPr>
                    <a:solidFill>
                      <a:srgbClr val="F8F9FA"/>
                    </a:solidFill>
                  </a:tcPr>
                </a:tc>
                <a:tc>
                  <a:txBody>
                    <a:bodyPr/>
                    <a:lstStyle/>
                    <a:p>
                      <a:pPr algn="l">
                        <a:defRPr sz="700">
                          <a:solidFill>
                            <a:srgbClr val="212529"/>
                          </a:solidFill>
                        </a:defRPr>
                      </a:pPr>
                      <a:r>
                        <a:t>Survey state-of-the-art</a:t>
                      </a:r>
                    </a:p>
                  </a:txBody>
                  <a:tcPr>
                    <a:solidFill>
                      <a:srgbClr val="F8F9FA"/>
                    </a:solidFill>
                  </a:tcPr>
                </a:tc>
                <a:tc>
                  <a:txBody>
                    <a:bodyPr/>
                    <a:lstStyle/>
                    <a:p>
                      <a:pPr algn="l">
                        <a:defRPr sz="700">
                          <a:solidFill>
                            <a:srgbClr val="212529"/>
                          </a:solidFill>
                        </a:defRPr>
                      </a:pPr>
                      <a:r>
                        <a:t>Literature Review</a:t>
                      </a:r>
                    </a:p>
                  </a:txBody>
                  <a:tcPr>
                    <a:solidFill>
                      <a:srgbClr val="F8F9FA"/>
                    </a:solidFill>
                  </a:tcPr>
                </a:tc>
                <a:tc>
                  <a:txBody>
                    <a:bodyPr/>
                    <a:lstStyle/>
                    <a:p>
                      <a:pPr algn="l">
                        <a:defRPr sz="700">
                          <a:solidFill>
                            <a:srgbClr val="212529"/>
                          </a:solidFill>
                        </a:defRPr>
                      </a:pPr>
                      <a:r>
                        <a:t>N/A</a:t>
                      </a:r>
                    </a:p>
                  </a:txBody>
                  <a:tcPr>
                    <a:solidFill>
                      <a:srgbClr val="F8F9FA"/>
                    </a:solidFill>
                  </a:tcPr>
                </a:tc>
                <a:tc>
                  <a:txBody>
                    <a:bodyPr/>
                    <a:lstStyle/>
                    <a:p>
                      <a:pPr algn="l">
                        <a:defRPr sz="700">
                          <a:solidFill>
                            <a:srgbClr val="212529"/>
                          </a:solidFill>
                        </a:defRPr>
                      </a:pPr>
                      <a:r>
                        <a:t>N/A</a:t>
                      </a:r>
                    </a:p>
                  </a:txBody>
                  <a:tcPr>
                    <a:solidFill>
                      <a:srgbClr val="F8F9FA"/>
                    </a:solidFill>
                  </a:tcPr>
                </a:tc>
                <a:tc>
                  <a:txBody>
                    <a:bodyPr/>
                    <a:lstStyle/>
                    <a:p>
                      <a:pPr algn="l">
                        <a:defRPr sz="700">
                          <a:solidFill>
                            <a:srgbClr val="212529"/>
                          </a:solidFill>
                        </a:defRPr>
                      </a:pPr>
                      <a:r>
                        <a:t>Identifies robustness scoring gap</a:t>
                      </a:r>
                    </a:p>
                  </a:txBody>
                  <a:tcPr>
                    <a:solidFill>
                      <a:srgbClr val="F8F9FA"/>
                    </a:solidFill>
                  </a:tcPr>
                </a:tc>
                <a:tc>
                  <a:txBody>
                    <a:bodyPr/>
                    <a:lstStyle/>
                    <a:p>
                      <a:pPr algn="l">
                        <a:defRPr sz="700">
                          <a:solidFill>
                            <a:srgbClr val="212529"/>
                          </a:solidFill>
                        </a:defRPr>
                      </a:pPr>
                      <a:r>
                        <a:t>No standard robustness metric</a:t>
                      </a:r>
                    </a:p>
                  </a:txBody>
                  <a:tcPr>
                    <a:solidFill>
                      <a:srgbClr val="F8F9FA"/>
                    </a:solidFill>
                  </a:tcPr>
                </a:tc>
                <a:tc>
                  <a:txBody>
                    <a:bodyPr/>
                    <a:lstStyle/>
                    <a:p>
                      <a:pPr algn="l">
                        <a:defRPr sz="700">
                          <a:solidFill>
                            <a:srgbClr val="212529"/>
                          </a:solidFill>
                        </a:defRPr>
                      </a:pPr>
                      <a:r>
                        <a:t>10.1145/CSUR.2022</a:t>
                      </a:r>
                    </a:p>
                  </a:txBody>
                  <a:tcPr>
                    <a:solidFill>
                      <a:srgbClr val="F8F9FA"/>
                    </a:solidFill>
                  </a:tcPr>
                </a:tc>
                <a:extLst>
                  <a:ext uri="{0D108BD9-81ED-4DB2-BD59-A6C34878D82A}">
                    <a16:rowId xmlns:a16="http://schemas.microsoft.com/office/drawing/2014/main" val="10003"/>
                  </a:ext>
                </a:extLst>
              </a:tr>
              <a:tr h="705394">
                <a:tc>
                  <a:txBody>
                    <a:bodyPr/>
                    <a:lstStyle/>
                    <a:p>
                      <a:pPr algn="l">
                        <a:defRPr sz="700">
                          <a:solidFill>
                            <a:srgbClr val="212529"/>
                          </a:solidFill>
                        </a:defRPr>
                      </a:pPr>
                      <a:r>
                        <a:t>4</a:t>
                      </a:r>
                    </a:p>
                  </a:txBody>
                  <a:tcPr>
                    <a:solidFill>
                      <a:srgbClr val="FFFFFF"/>
                    </a:solidFill>
                  </a:tcPr>
                </a:tc>
                <a:tc>
                  <a:txBody>
                    <a:bodyPr/>
                    <a:lstStyle/>
                    <a:p>
                      <a:pPr algn="l">
                        <a:defRPr sz="700">
                          <a:solidFill>
                            <a:srgbClr val="212529"/>
                          </a:solidFill>
                        </a:defRPr>
                      </a:pPr>
                      <a:r>
                        <a:t>2023</a:t>
                      </a:r>
                    </a:p>
                  </a:txBody>
                  <a:tcPr>
                    <a:solidFill>
                      <a:srgbClr val="FFFFFF"/>
                    </a:solidFill>
                  </a:tcPr>
                </a:tc>
                <a:tc>
                  <a:txBody>
                    <a:bodyPr/>
                    <a:lstStyle/>
                    <a:p>
                      <a:pPr algn="l">
                        <a:defRPr sz="700">
                          <a:solidFill>
                            <a:srgbClr val="212529"/>
                          </a:solidFill>
                        </a:defRPr>
                      </a:pPr>
                      <a:r>
                        <a:t>Apruzzese et al.</a:t>
                      </a:r>
                    </a:p>
                  </a:txBody>
                  <a:tcPr>
                    <a:solidFill>
                      <a:srgbClr val="FFFFFF"/>
                    </a:solidFill>
                  </a:tcPr>
                </a:tc>
                <a:tc>
                  <a:txBody>
                    <a:bodyPr/>
                    <a:lstStyle/>
                    <a:p>
                      <a:pPr algn="l">
                        <a:defRPr sz="700">
                          <a:solidFill>
                            <a:srgbClr val="212529"/>
                          </a:solidFill>
                        </a:defRPr>
                      </a:pPr>
                      <a:r>
                        <a:t>Adversarial Robustness of ML-based NIDS</a:t>
                      </a:r>
                    </a:p>
                  </a:txBody>
                  <a:tcPr>
                    <a:solidFill>
                      <a:srgbClr val="FFFFFF"/>
                    </a:solidFill>
                  </a:tcPr>
                </a:tc>
                <a:tc>
                  <a:txBody>
                    <a:bodyPr/>
                    <a:lstStyle/>
                    <a:p>
                      <a:pPr algn="l">
                        <a:defRPr sz="700">
                          <a:solidFill>
                            <a:srgbClr val="212529"/>
                          </a:solidFill>
                        </a:defRPr>
                      </a:pPr>
                      <a:r>
                        <a:t>IEEE TNSM</a:t>
                      </a:r>
                    </a:p>
                  </a:txBody>
                  <a:tcPr>
                    <a:solidFill>
                      <a:srgbClr val="FFFFFF"/>
                    </a:solidFill>
                  </a:tcPr>
                </a:tc>
                <a:tc>
                  <a:txBody>
                    <a:bodyPr/>
                    <a:lstStyle/>
                    <a:p>
                      <a:pPr algn="l">
                        <a:defRPr sz="700">
                          <a:solidFill>
                            <a:srgbClr val="212529"/>
                          </a:solidFill>
                        </a:defRPr>
                      </a:pPr>
                      <a:r>
                        <a:t>Evaluate model robustness</a:t>
                      </a:r>
                    </a:p>
                  </a:txBody>
                  <a:tcPr>
                    <a:solidFill>
                      <a:srgbClr val="FFFFFF"/>
                    </a:solidFill>
                  </a:tcPr>
                </a:tc>
                <a:tc>
                  <a:txBody>
                    <a:bodyPr/>
                    <a:lstStyle/>
                    <a:p>
                      <a:pPr algn="l">
                        <a:defRPr sz="700">
                          <a:solidFill>
                            <a:srgbClr val="212529"/>
                          </a:solidFill>
                        </a:defRPr>
                      </a:pPr>
                      <a:r>
                        <a:t>RF, DNN, SVM</a:t>
                      </a:r>
                    </a:p>
                  </a:txBody>
                  <a:tcPr>
                    <a:solidFill>
                      <a:srgbClr val="FFFFFF"/>
                    </a:solidFill>
                  </a:tcPr>
                </a:tc>
                <a:tc>
                  <a:txBody>
                    <a:bodyPr/>
                    <a:lstStyle/>
                    <a:p>
                      <a:pPr algn="l">
                        <a:defRPr sz="700">
                          <a:solidFill>
                            <a:srgbClr val="212529"/>
                          </a:solidFill>
                        </a:defRPr>
                      </a:pPr>
                      <a:r>
                        <a:t>NSL-KDD</a:t>
                      </a:r>
                    </a:p>
                  </a:txBody>
                  <a:tcPr>
                    <a:solidFill>
                      <a:srgbClr val="FFFFFF"/>
                    </a:solidFill>
                  </a:tcPr>
                </a:tc>
                <a:tc>
                  <a:txBody>
                    <a:bodyPr/>
                    <a:lstStyle/>
                    <a:p>
                      <a:pPr algn="l">
                        <a:defRPr sz="700">
                          <a:solidFill>
                            <a:srgbClr val="212529"/>
                          </a:solidFill>
                        </a:defRPr>
                      </a:pPr>
                      <a:r>
                        <a:t>F1, Robustness Score</a:t>
                      </a:r>
                    </a:p>
                  </a:txBody>
                  <a:tcPr>
                    <a:solidFill>
                      <a:srgbClr val="FFFFFF"/>
                    </a:solidFill>
                  </a:tcPr>
                </a:tc>
                <a:tc>
                  <a:txBody>
                    <a:bodyPr/>
                    <a:lstStyle/>
                    <a:p>
                      <a:pPr algn="l">
                        <a:defRPr sz="700">
                          <a:solidFill>
                            <a:srgbClr val="212529"/>
                          </a:solidFill>
                        </a:defRPr>
                      </a:pPr>
                      <a:r>
                        <a:t>Ensemble improves robustness</a:t>
                      </a:r>
                    </a:p>
                  </a:txBody>
                  <a:tcPr>
                    <a:solidFill>
                      <a:srgbClr val="FFFFFF"/>
                    </a:solidFill>
                  </a:tcPr>
                </a:tc>
                <a:tc>
                  <a:txBody>
                    <a:bodyPr/>
                    <a:lstStyle/>
                    <a:p>
                      <a:pPr algn="l">
                        <a:defRPr sz="700">
                          <a:solidFill>
                            <a:srgbClr val="212529"/>
                          </a:solidFill>
                        </a:defRPr>
                      </a:pPr>
                      <a:r>
                        <a:t>Lacks real-time latency analysis</a:t>
                      </a:r>
                    </a:p>
                  </a:txBody>
                  <a:tcPr>
                    <a:solidFill>
                      <a:srgbClr val="FFFFFF"/>
                    </a:solidFill>
                  </a:tcPr>
                </a:tc>
                <a:tc>
                  <a:txBody>
                    <a:bodyPr/>
                    <a:lstStyle/>
                    <a:p>
                      <a:pPr algn="l">
                        <a:defRPr sz="700">
                          <a:solidFill>
                            <a:srgbClr val="212529"/>
                          </a:solidFill>
                        </a:defRPr>
                      </a:pPr>
                      <a:r>
                        <a:t>10.1109/TNSM.2023</a:t>
                      </a:r>
                    </a:p>
                  </a:txBody>
                  <a:tcPr>
                    <a:solidFill>
                      <a:srgbClr val="FFFFFF"/>
                    </a:solidFill>
                  </a:tcPr>
                </a:tc>
                <a:extLst>
                  <a:ext uri="{0D108BD9-81ED-4DB2-BD59-A6C34878D82A}">
                    <a16:rowId xmlns:a16="http://schemas.microsoft.com/office/drawing/2014/main" val="10004"/>
                  </a:ext>
                </a:extLst>
              </a:tr>
              <a:tr h="705394">
                <a:tc>
                  <a:txBody>
                    <a:bodyPr/>
                    <a:lstStyle/>
                    <a:p>
                      <a:pPr algn="l">
                        <a:defRPr sz="700">
                          <a:solidFill>
                            <a:srgbClr val="212529"/>
                          </a:solidFill>
                        </a:defRPr>
                      </a:pPr>
                      <a:r>
                        <a:t>5</a:t>
                      </a:r>
                    </a:p>
                  </a:txBody>
                  <a:tcPr>
                    <a:solidFill>
                      <a:srgbClr val="F8F9FA"/>
                    </a:solidFill>
                  </a:tcPr>
                </a:tc>
                <a:tc>
                  <a:txBody>
                    <a:bodyPr/>
                    <a:lstStyle/>
                    <a:p>
                      <a:pPr algn="l">
                        <a:defRPr sz="700">
                          <a:solidFill>
                            <a:srgbClr val="212529"/>
                          </a:solidFill>
                        </a:defRPr>
                      </a:pPr>
                      <a:r>
                        <a:t>2024</a:t>
                      </a:r>
                    </a:p>
                  </a:txBody>
                  <a:tcPr>
                    <a:solidFill>
                      <a:srgbClr val="F8F9FA"/>
                    </a:solidFill>
                  </a:tcPr>
                </a:tc>
                <a:tc>
                  <a:txBody>
                    <a:bodyPr/>
                    <a:lstStyle/>
                    <a:p>
                      <a:pPr algn="l">
                        <a:defRPr sz="700">
                          <a:solidFill>
                            <a:srgbClr val="212529"/>
                          </a:solidFill>
                        </a:defRPr>
                      </a:pPr>
                      <a:r>
                        <a:t>Liu et al.</a:t>
                      </a:r>
                    </a:p>
                  </a:txBody>
                  <a:tcPr>
                    <a:solidFill>
                      <a:srgbClr val="F8F9FA"/>
                    </a:solidFill>
                  </a:tcPr>
                </a:tc>
                <a:tc>
                  <a:txBody>
                    <a:bodyPr/>
                    <a:lstStyle/>
                    <a:p>
                      <a:pPr algn="l">
                        <a:defRPr sz="700">
                          <a:solidFill>
                            <a:srgbClr val="212529"/>
                          </a:solidFill>
                        </a:defRPr>
                      </a:pPr>
                      <a:r>
                        <a:t>Hybrid Defense Framework for NIDS</a:t>
                      </a:r>
                    </a:p>
                  </a:txBody>
                  <a:tcPr>
                    <a:solidFill>
                      <a:srgbClr val="F8F9FA"/>
                    </a:solidFill>
                  </a:tcPr>
                </a:tc>
                <a:tc>
                  <a:txBody>
                    <a:bodyPr/>
                    <a:lstStyle/>
                    <a:p>
                      <a:pPr algn="l">
                        <a:defRPr sz="700">
                          <a:solidFill>
                            <a:srgbClr val="212529"/>
                          </a:solidFill>
                        </a:defRPr>
                      </a:pPr>
                      <a:r>
                        <a:t>Computer Networks</a:t>
                      </a:r>
                    </a:p>
                  </a:txBody>
                  <a:tcPr>
                    <a:solidFill>
                      <a:srgbClr val="F8F9FA"/>
                    </a:solidFill>
                  </a:tcPr>
                </a:tc>
                <a:tc>
                  <a:txBody>
                    <a:bodyPr/>
                    <a:lstStyle/>
                    <a:p>
                      <a:pPr algn="l">
                        <a:defRPr sz="700">
                          <a:solidFill>
                            <a:srgbClr val="212529"/>
                          </a:solidFill>
                        </a:defRPr>
                      </a:pPr>
                      <a:r>
                        <a:t>Propose hybrid defense</a:t>
                      </a:r>
                    </a:p>
                  </a:txBody>
                  <a:tcPr>
                    <a:solidFill>
                      <a:srgbClr val="F8F9FA"/>
                    </a:solidFill>
                  </a:tcPr>
                </a:tc>
                <a:tc>
                  <a:txBody>
                    <a:bodyPr/>
                    <a:lstStyle/>
                    <a:p>
                      <a:pPr algn="l">
                        <a:defRPr sz="700">
                          <a:solidFill>
                            <a:srgbClr val="212529"/>
                          </a:solidFill>
                        </a:defRPr>
                      </a:pPr>
                      <a:r>
                        <a:t>Adversarial Training + Sanitization</a:t>
                      </a:r>
                    </a:p>
                  </a:txBody>
                  <a:tcPr>
                    <a:solidFill>
                      <a:srgbClr val="F8F9FA"/>
                    </a:solidFill>
                  </a:tcPr>
                </a:tc>
                <a:tc>
                  <a:txBody>
                    <a:bodyPr/>
                    <a:lstStyle/>
                    <a:p>
                      <a:pPr algn="l">
                        <a:defRPr sz="700">
                          <a:solidFill>
                            <a:srgbClr val="212529"/>
                          </a:solidFill>
                        </a:defRPr>
                      </a:pPr>
                      <a:r>
                        <a:t>CICIDS2017</a:t>
                      </a:r>
                    </a:p>
                  </a:txBody>
                  <a:tcPr>
                    <a:solidFill>
                      <a:srgbClr val="F8F9FA"/>
                    </a:solidFill>
                  </a:tcPr>
                </a:tc>
                <a:tc>
                  <a:txBody>
                    <a:bodyPr/>
                    <a:lstStyle/>
                    <a:p>
                      <a:pPr algn="l">
                        <a:defRPr sz="700">
                          <a:solidFill>
                            <a:srgbClr val="212529"/>
                          </a:solidFill>
                        </a:defRPr>
                      </a:pPr>
                      <a:r>
                        <a:t>Accuracy, Latency</a:t>
                      </a:r>
                    </a:p>
                  </a:txBody>
                  <a:tcPr>
                    <a:solidFill>
                      <a:srgbClr val="F8F9FA"/>
                    </a:solidFill>
                  </a:tcPr>
                </a:tc>
                <a:tc>
                  <a:txBody>
                    <a:bodyPr/>
                    <a:lstStyle/>
                    <a:p>
                      <a:pPr algn="l">
                        <a:defRPr sz="700">
                          <a:solidFill>
                            <a:srgbClr val="212529"/>
                          </a:solidFill>
                        </a:defRPr>
                      </a:pPr>
                      <a:r>
                        <a:t>Hybrid improves robustness by 25%</a:t>
                      </a:r>
                    </a:p>
                  </a:txBody>
                  <a:tcPr>
                    <a:solidFill>
                      <a:srgbClr val="F8F9FA"/>
                    </a:solidFill>
                  </a:tcPr>
                </a:tc>
                <a:tc>
                  <a:txBody>
                    <a:bodyPr/>
                    <a:lstStyle/>
                    <a:p>
                      <a:pPr algn="l">
                        <a:defRPr sz="700">
                          <a:solidFill>
                            <a:srgbClr val="212529"/>
                          </a:solidFill>
                        </a:defRPr>
                      </a:pPr>
                      <a:r>
                        <a:t>High computational overhead</a:t>
                      </a:r>
                    </a:p>
                  </a:txBody>
                  <a:tcPr>
                    <a:solidFill>
                      <a:srgbClr val="F8F9FA"/>
                    </a:solidFill>
                  </a:tcPr>
                </a:tc>
                <a:tc>
                  <a:txBody>
                    <a:bodyPr/>
                    <a:lstStyle/>
                    <a:p>
                      <a:pPr algn="l">
                        <a:defRPr sz="700">
                          <a:solidFill>
                            <a:srgbClr val="212529"/>
                          </a:solidFill>
                        </a:defRPr>
                      </a:pPr>
                      <a:r>
                        <a:t>10.1016/j.comnet.2024</a:t>
                      </a:r>
                    </a:p>
                  </a:txBody>
                  <a:tcPr>
                    <a:solidFill>
                      <a:srgbClr val="F8F9FA"/>
                    </a:solidFill>
                  </a:tcPr>
                </a:tc>
                <a:extLst>
                  <a:ext uri="{0D108BD9-81ED-4DB2-BD59-A6C34878D82A}">
                    <a16:rowId xmlns:a16="http://schemas.microsoft.com/office/drawing/2014/main" val="10005"/>
                  </a:ext>
                </a:extLst>
              </a:tr>
              <a:tr h="705396">
                <a:tc>
                  <a:txBody>
                    <a:bodyPr/>
                    <a:lstStyle/>
                    <a:p>
                      <a:pPr algn="l">
                        <a:defRPr sz="700">
                          <a:solidFill>
                            <a:srgbClr val="212529"/>
                          </a:solidFill>
                        </a:defRPr>
                      </a:pPr>
                      <a:r>
                        <a:rPr dirty="0"/>
                        <a:t>6</a:t>
                      </a:r>
                    </a:p>
                  </a:txBody>
                  <a:tcPr>
                    <a:solidFill>
                      <a:srgbClr val="FFFFFF"/>
                    </a:solidFill>
                  </a:tcPr>
                </a:tc>
                <a:tc>
                  <a:txBody>
                    <a:bodyPr/>
                    <a:lstStyle/>
                    <a:p>
                      <a:pPr algn="l">
                        <a:defRPr sz="700">
                          <a:solidFill>
                            <a:srgbClr val="212529"/>
                          </a:solidFill>
                        </a:defRPr>
                      </a:pPr>
                      <a:r>
                        <a:rPr dirty="0"/>
                        <a:t>2024</a:t>
                      </a:r>
                    </a:p>
                  </a:txBody>
                  <a:tcPr>
                    <a:solidFill>
                      <a:srgbClr val="FFFFFF"/>
                    </a:solidFill>
                  </a:tcPr>
                </a:tc>
                <a:tc>
                  <a:txBody>
                    <a:bodyPr/>
                    <a:lstStyle/>
                    <a:p>
                      <a:pPr algn="l">
                        <a:defRPr sz="700">
                          <a:solidFill>
                            <a:srgbClr val="212529"/>
                          </a:solidFill>
                        </a:defRPr>
                      </a:pPr>
                      <a:r>
                        <a:rPr dirty="0"/>
                        <a:t>Singh &amp; Patel</a:t>
                      </a:r>
                    </a:p>
                  </a:txBody>
                  <a:tcPr>
                    <a:solidFill>
                      <a:srgbClr val="FFFFFF"/>
                    </a:solidFill>
                  </a:tcPr>
                </a:tc>
                <a:tc>
                  <a:txBody>
                    <a:bodyPr/>
                    <a:lstStyle/>
                    <a:p>
                      <a:pPr algn="l">
                        <a:defRPr sz="700">
                          <a:solidFill>
                            <a:srgbClr val="212529"/>
                          </a:solidFill>
                        </a:defRPr>
                      </a:pPr>
                      <a:r>
                        <a:t>Robustness Evaluation of DNN in NIDS</a:t>
                      </a:r>
                    </a:p>
                  </a:txBody>
                  <a:tcPr>
                    <a:solidFill>
                      <a:srgbClr val="FFFFFF"/>
                    </a:solidFill>
                  </a:tcPr>
                </a:tc>
                <a:tc>
                  <a:txBody>
                    <a:bodyPr/>
                    <a:lstStyle/>
                    <a:p>
                      <a:pPr algn="l">
                        <a:defRPr sz="700">
                          <a:solidFill>
                            <a:srgbClr val="212529"/>
                          </a:solidFill>
                        </a:defRPr>
                      </a:pPr>
                      <a:r>
                        <a:t>IEEE Access</a:t>
                      </a:r>
                    </a:p>
                  </a:txBody>
                  <a:tcPr>
                    <a:solidFill>
                      <a:srgbClr val="FFFFFF"/>
                    </a:solidFill>
                  </a:tcPr>
                </a:tc>
                <a:tc>
                  <a:txBody>
                    <a:bodyPr/>
                    <a:lstStyle/>
                    <a:p>
                      <a:pPr algn="l">
                        <a:defRPr sz="700">
                          <a:solidFill>
                            <a:srgbClr val="212529"/>
                          </a:solidFill>
                        </a:defRPr>
                      </a:pPr>
                      <a:r>
                        <a:t>Benchmark DNN against PGD</a:t>
                      </a:r>
                    </a:p>
                  </a:txBody>
                  <a:tcPr>
                    <a:solidFill>
                      <a:srgbClr val="FFFFFF"/>
                    </a:solidFill>
                  </a:tcPr>
                </a:tc>
                <a:tc>
                  <a:txBody>
                    <a:bodyPr/>
                    <a:lstStyle/>
                    <a:p>
                      <a:pPr algn="l">
                        <a:defRPr sz="700">
                          <a:solidFill>
                            <a:srgbClr val="212529"/>
                          </a:solidFill>
                        </a:defRPr>
                      </a:pPr>
                      <a:r>
                        <a:t>PGD, CW attacks</a:t>
                      </a:r>
                    </a:p>
                  </a:txBody>
                  <a:tcPr>
                    <a:solidFill>
                      <a:srgbClr val="FFFFFF"/>
                    </a:solidFill>
                  </a:tcPr>
                </a:tc>
                <a:tc>
                  <a:txBody>
                    <a:bodyPr/>
                    <a:lstStyle/>
                    <a:p>
                      <a:pPr algn="l">
                        <a:defRPr sz="700">
                          <a:solidFill>
                            <a:srgbClr val="212529"/>
                          </a:solidFill>
                        </a:defRPr>
                      </a:pPr>
                      <a:r>
                        <a:t>UNSW-NB15</a:t>
                      </a:r>
                    </a:p>
                  </a:txBody>
                  <a:tcPr>
                    <a:solidFill>
                      <a:srgbClr val="FFFFFF"/>
                    </a:solidFill>
                  </a:tcPr>
                </a:tc>
                <a:tc>
                  <a:txBody>
                    <a:bodyPr/>
                    <a:lstStyle/>
                    <a:p>
                      <a:pPr algn="l">
                        <a:defRPr sz="700">
                          <a:solidFill>
                            <a:srgbClr val="212529"/>
                          </a:solidFill>
                        </a:defRPr>
                      </a:pPr>
                      <a:r>
                        <a:t>F1, Detection Rate</a:t>
                      </a:r>
                    </a:p>
                  </a:txBody>
                  <a:tcPr>
                    <a:solidFill>
                      <a:srgbClr val="FFFFFF"/>
                    </a:solidFill>
                  </a:tcPr>
                </a:tc>
                <a:tc>
                  <a:txBody>
                    <a:bodyPr/>
                    <a:lstStyle/>
                    <a:p>
                      <a:pPr algn="l">
                        <a:defRPr sz="700">
                          <a:solidFill>
                            <a:srgbClr val="212529"/>
                          </a:solidFill>
                        </a:defRPr>
                      </a:pPr>
                      <a:r>
                        <a:t>DNN vulnerable to PGD with ε &gt; 0.1</a:t>
                      </a:r>
                    </a:p>
                  </a:txBody>
                  <a:tcPr>
                    <a:solidFill>
                      <a:srgbClr val="FFFFFF"/>
                    </a:solidFill>
                  </a:tcPr>
                </a:tc>
                <a:tc>
                  <a:txBody>
                    <a:bodyPr/>
                    <a:lstStyle/>
                    <a:p>
                      <a:pPr algn="l">
                        <a:defRPr sz="700">
                          <a:solidFill>
                            <a:srgbClr val="212529"/>
                          </a:solidFill>
                        </a:defRPr>
                      </a:pPr>
                      <a:r>
                        <a:t>No defense against CW attacks</a:t>
                      </a:r>
                    </a:p>
                  </a:txBody>
                  <a:tcPr>
                    <a:solidFill>
                      <a:srgbClr val="FFFFFF"/>
                    </a:solidFill>
                  </a:tcPr>
                </a:tc>
                <a:tc>
                  <a:txBody>
                    <a:bodyPr/>
                    <a:lstStyle/>
                    <a:p>
                      <a:pPr algn="l">
                        <a:defRPr sz="700">
                          <a:solidFill>
                            <a:srgbClr val="212529"/>
                          </a:solidFill>
                        </a:defRPr>
                      </a:pPr>
                      <a:r>
                        <a:rPr dirty="0"/>
                        <a:t>10.1109/ACCESS.2024</a:t>
                      </a:r>
                    </a:p>
                  </a:txBody>
                  <a:tcPr>
                    <a:solidFill>
                      <a:srgbClr val="FFFFFF"/>
                    </a:solidFill>
                  </a:tcPr>
                </a:tc>
                <a:extLst>
                  <a:ext uri="{0D108BD9-81ED-4DB2-BD59-A6C34878D82A}">
                    <a16:rowId xmlns:a16="http://schemas.microsoft.com/office/drawing/2014/main" val="10006"/>
                  </a:ext>
                </a:extLst>
              </a:tr>
            </a:tbl>
          </a:graphicData>
        </a:graphic>
      </p:graphicFrame>
      <p:pic>
        <p:nvPicPr>
          <p:cNvPr id="9" name="Picture 8">
            <a:extLst>
              <a:ext uri="{FF2B5EF4-FFF2-40B4-BE49-F238E27FC236}">
                <a16:creationId xmlns:a16="http://schemas.microsoft.com/office/drawing/2014/main" id="{8A1E4F36-1753-0867-ED5E-D624F2F98E9F}"/>
              </a:ext>
            </a:extLst>
          </p:cNvPr>
          <p:cNvPicPr>
            <a:picLocks noChangeAspect="1"/>
          </p:cNvPicPr>
          <p:nvPr/>
        </p:nvPicPr>
        <p:blipFill>
          <a:blip r:embed="rId2"/>
          <a:stretch>
            <a:fillRect/>
          </a:stretch>
        </p:blipFill>
        <p:spPr>
          <a:xfrm>
            <a:off x="74142" y="130057"/>
            <a:ext cx="1458484" cy="69086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47252" y="274320"/>
            <a:ext cx="11198942" cy="584775"/>
          </a:xfrm>
          <a:prstGeom prst="rect">
            <a:avLst/>
          </a:prstGeom>
          <a:noFill/>
        </p:spPr>
        <p:txBody>
          <a:bodyPr wrap="square">
            <a:spAutoFit/>
          </a:bodyPr>
          <a:lstStyle/>
          <a:p>
            <a:pPr algn="ctr">
              <a:defRPr sz="3200" b="1">
                <a:solidFill>
                  <a:srgbClr val="0B1E3B"/>
                </a:solidFill>
                <a:latin typeface="Calibri"/>
              </a:defRPr>
            </a:pPr>
            <a:r>
              <a:rPr dirty="0"/>
              <a:t>Research Gap </a:t>
            </a:r>
            <a:r>
              <a:rPr dirty="0" smtClean="0"/>
              <a:t>Identification</a:t>
            </a:r>
            <a:endParaRPr dirty="0"/>
          </a:p>
        </p:txBody>
      </p:sp>
      <p:sp>
        <p:nvSpPr>
          <p:cNvPr id="5" name="Rectangle 4"/>
          <p:cNvSpPr/>
          <p:nvPr/>
        </p:nvSpPr>
        <p:spPr>
          <a:xfrm>
            <a:off x="0" y="6537960"/>
            <a:ext cx="12191695" cy="320040"/>
          </a:xfrm>
          <a:prstGeom prst="rect">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65392"/>
            <a:ext cx="2743200" cy="274320"/>
          </a:xfrm>
          <a:prstGeom prst="rect">
            <a:avLst/>
          </a:prstGeom>
          <a:noFill/>
        </p:spPr>
        <p:txBody>
          <a:bodyPr wrap="none">
            <a:spAutoFit/>
          </a:bodyPr>
          <a:lstStyle/>
          <a:p>
            <a:pPr>
              <a:defRPr sz="1200">
                <a:solidFill>
                  <a:srgbClr val="FFFFFF"/>
                </a:solidFill>
                <a:latin typeface="Calibri"/>
              </a:defRPr>
            </a:pPr>
            <a:r>
              <a:t>22-08-2026</a:t>
            </a:r>
          </a:p>
        </p:txBody>
      </p:sp>
      <p:sp>
        <p:nvSpPr>
          <p:cNvPr id="7" name="TextBox 6"/>
          <p:cNvSpPr txBox="1"/>
          <p:nvPr/>
        </p:nvSpPr>
        <p:spPr>
          <a:xfrm>
            <a:off x="9601200" y="6565392"/>
            <a:ext cx="2103120" cy="274320"/>
          </a:xfrm>
          <a:prstGeom prst="rect">
            <a:avLst/>
          </a:prstGeom>
          <a:noFill/>
        </p:spPr>
        <p:txBody>
          <a:bodyPr wrap="none">
            <a:spAutoFit/>
          </a:bodyPr>
          <a:lstStyle/>
          <a:p>
            <a:pPr algn="r">
              <a:defRPr sz="1200">
                <a:solidFill>
                  <a:srgbClr val="FFFFFF"/>
                </a:solidFill>
                <a:latin typeface="Calibri"/>
              </a:defRPr>
            </a:pPr>
            <a:r>
              <a:t>PRC-I  |  AdversarialShield</a:t>
            </a:r>
          </a:p>
        </p:txBody>
      </p:sp>
      <p:sp>
        <p:nvSpPr>
          <p:cNvPr id="8" name="TextBox 7"/>
          <p:cNvSpPr txBox="1"/>
          <p:nvPr/>
        </p:nvSpPr>
        <p:spPr>
          <a:xfrm>
            <a:off x="457200" y="1097280"/>
            <a:ext cx="8789714" cy="292388"/>
          </a:xfrm>
          <a:prstGeom prst="rect">
            <a:avLst/>
          </a:prstGeom>
          <a:noFill/>
        </p:spPr>
        <p:txBody>
          <a:bodyPr wrap="none">
            <a:spAutoFit/>
          </a:bodyPr>
          <a:lstStyle/>
          <a:p>
            <a:pPr algn="l">
              <a:defRPr sz="1300">
                <a:solidFill>
                  <a:srgbClr val="6C757D"/>
                </a:solidFill>
                <a:latin typeface="Calibri"/>
              </a:defRPr>
            </a:pPr>
            <a:r>
              <a:rPr dirty="0" smtClean="0"/>
              <a:t>involves </a:t>
            </a:r>
            <a:r>
              <a:rPr dirty="0"/>
              <a:t>analyzing existing literature to identify limitations, unresolved issues, or areas that have not been adequately </a:t>
            </a:r>
            <a:r>
              <a:rPr dirty="0" smtClean="0"/>
              <a:t>explored</a:t>
            </a:r>
            <a:endParaRPr dirty="0"/>
          </a:p>
        </p:txBody>
      </p:sp>
      <p:graphicFrame>
        <p:nvGraphicFramePr>
          <p:cNvPr id="9" name="Table 8"/>
          <p:cNvGraphicFramePr>
            <a:graphicFrameLocks noGrp="1"/>
          </p:cNvGraphicFramePr>
          <p:nvPr/>
        </p:nvGraphicFramePr>
        <p:xfrm>
          <a:off x="457200" y="1645920"/>
          <a:ext cx="11247120" cy="4389120"/>
        </p:xfrm>
        <a:graphic>
          <a:graphicData uri="http://schemas.openxmlformats.org/drawingml/2006/table">
            <a:tbl>
              <a:tblPr firstRow="1" bandRow="1">
                <a:tableStyleId>{5C22544A-7EE6-4342-B048-85BDC9FD1C3A}</a:tableStyleId>
              </a:tblPr>
              <a:tblGrid>
                <a:gridCol w="187452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gridCol w="1874520">
                  <a:extLst>
                    <a:ext uri="{9D8B030D-6E8A-4147-A177-3AD203B41FA5}">
                      <a16:colId xmlns:a16="http://schemas.microsoft.com/office/drawing/2014/main" val="20003"/>
                    </a:ext>
                  </a:extLst>
                </a:gridCol>
                <a:gridCol w="1874520">
                  <a:extLst>
                    <a:ext uri="{9D8B030D-6E8A-4147-A177-3AD203B41FA5}">
                      <a16:colId xmlns:a16="http://schemas.microsoft.com/office/drawing/2014/main" val="20004"/>
                    </a:ext>
                  </a:extLst>
                </a:gridCol>
                <a:gridCol w="1874520">
                  <a:extLst>
                    <a:ext uri="{9D8B030D-6E8A-4147-A177-3AD203B41FA5}">
                      <a16:colId xmlns:a16="http://schemas.microsoft.com/office/drawing/2014/main" val="20005"/>
                    </a:ext>
                  </a:extLst>
                </a:gridCol>
              </a:tblGrid>
              <a:tr h="627017">
                <a:tc>
                  <a:txBody>
                    <a:bodyPr/>
                    <a:lstStyle/>
                    <a:p>
                      <a:pPr algn="ctr">
                        <a:defRPr sz="900" b="1">
                          <a:solidFill>
                            <a:srgbClr val="FFFFFF"/>
                          </a:solidFill>
                        </a:defRPr>
                      </a:pPr>
                      <a:r>
                        <a:t>S.No.</a:t>
                      </a:r>
                    </a:p>
                  </a:txBody>
                  <a:tcPr>
                    <a:solidFill>
                      <a:srgbClr val="0B1E3B"/>
                    </a:solidFill>
                  </a:tcPr>
                </a:tc>
                <a:tc>
                  <a:txBody>
                    <a:bodyPr/>
                    <a:lstStyle/>
                    <a:p>
                      <a:pPr algn="ctr">
                        <a:defRPr sz="900" b="1">
                          <a:solidFill>
                            <a:srgbClr val="FFFFFF"/>
                          </a:solidFill>
                        </a:defRPr>
                      </a:pPr>
                      <a:r>
                        <a:t>Paper Title</a:t>
                      </a:r>
                    </a:p>
                  </a:txBody>
                  <a:tcPr>
                    <a:solidFill>
                      <a:srgbClr val="0B1E3B"/>
                    </a:solidFill>
                  </a:tcPr>
                </a:tc>
                <a:tc>
                  <a:txBody>
                    <a:bodyPr/>
                    <a:lstStyle/>
                    <a:p>
                      <a:pPr algn="ctr">
                        <a:defRPr sz="900" b="1">
                          <a:solidFill>
                            <a:srgbClr val="FFFFFF"/>
                          </a:solidFill>
                        </a:defRPr>
                      </a:pPr>
                      <a:r>
                        <a:t>Author Name(s)</a:t>
                      </a:r>
                    </a:p>
                  </a:txBody>
                  <a:tcPr>
                    <a:solidFill>
                      <a:srgbClr val="0B1E3B"/>
                    </a:solidFill>
                  </a:tcPr>
                </a:tc>
                <a:tc>
                  <a:txBody>
                    <a:bodyPr/>
                    <a:lstStyle/>
                    <a:p>
                      <a:pPr algn="ctr">
                        <a:defRPr sz="900" b="1">
                          <a:solidFill>
                            <a:srgbClr val="FFFFFF"/>
                          </a:solidFill>
                        </a:defRPr>
                      </a:pPr>
                      <a:r>
                        <a:t>Methodology / Model Used</a:t>
                      </a:r>
                    </a:p>
                  </a:txBody>
                  <a:tcPr>
                    <a:solidFill>
                      <a:srgbClr val="0B1E3B"/>
                    </a:solidFill>
                  </a:tcPr>
                </a:tc>
                <a:tc>
                  <a:txBody>
                    <a:bodyPr/>
                    <a:lstStyle/>
                    <a:p>
                      <a:pPr algn="ctr">
                        <a:defRPr sz="900" b="1">
                          <a:solidFill>
                            <a:srgbClr val="FFFFFF"/>
                          </a:solidFill>
                        </a:defRPr>
                      </a:pPr>
                      <a:r>
                        <a:t>Key Findings</a:t>
                      </a:r>
                    </a:p>
                  </a:txBody>
                  <a:tcPr>
                    <a:solidFill>
                      <a:srgbClr val="0B1E3B"/>
                    </a:solidFill>
                  </a:tcPr>
                </a:tc>
                <a:tc>
                  <a:txBody>
                    <a:bodyPr/>
                    <a:lstStyle/>
                    <a:p>
                      <a:pPr algn="ctr">
                        <a:defRPr sz="900" b="1">
                          <a:solidFill>
                            <a:srgbClr val="FFFFFF"/>
                          </a:solidFill>
                        </a:defRPr>
                      </a:pPr>
                      <a:r>
                        <a:t>Research Gap Identified</a:t>
                      </a:r>
                    </a:p>
                  </a:txBody>
                  <a:tcPr>
                    <a:solidFill>
                      <a:srgbClr val="0B1E3B"/>
                    </a:solidFill>
                  </a:tcPr>
                </a:tc>
                <a:extLst>
                  <a:ext uri="{0D108BD9-81ED-4DB2-BD59-A6C34878D82A}">
                    <a16:rowId xmlns:a16="http://schemas.microsoft.com/office/drawing/2014/main" val="10000"/>
                  </a:ext>
                </a:extLst>
              </a:tr>
              <a:tr h="627017">
                <a:tc>
                  <a:txBody>
                    <a:bodyPr/>
                    <a:lstStyle/>
                    <a:p>
                      <a:pPr algn="l">
                        <a:defRPr sz="1100">
                          <a:solidFill>
                            <a:srgbClr val="212529"/>
                          </a:solidFill>
                        </a:defRPr>
                      </a:pPr>
                      <a:r>
                        <a:t>1</a:t>
                      </a:r>
                    </a:p>
                  </a:txBody>
                  <a:tcPr>
                    <a:solidFill>
                      <a:srgbClr val="F8F9FA"/>
                    </a:solidFill>
                  </a:tcPr>
                </a:tc>
                <a:tc>
                  <a:txBody>
                    <a:bodyPr/>
                    <a:lstStyle/>
                    <a:p>
                      <a:pPr algn="l">
                        <a:defRPr sz="1100">
                          <a:solidFill>
                            <a:srgbClr val="212529"/>
                          </a:solidFill>
                        </a:defRPr>
                      </a:pPr>
                      <a:r>
                        <a:t>Evasion Attacks against ML-based IDS</a:t>
                      </a:r>
                    </a:p>
                  </a:txBody>
                  <a:tcPr>
                    <a:solidFill>
                      <a:srgbClr val="F8F9FA"/>
                    </a:solidFill>
                  </a:tcPr>
                </a:tc>
                <a:tc>
                  <a:txBody>
                    <a:bodyPr/>
                    <a:lstStyle/>
                    <a:p>
                      <a:pPr algn="l">
                        <a:defRPr sz="1100">
                          <a:solidFill>
                            <a:srgbClr val="212529"/>
                          </a:solidFill>
                        </a:defRPr>
                      </a:pPr>
                      <a:r>
                        <a:t>Wang et al.</a:t>
                      </a:r>
                    </a:p>
                  </a:txBody>
                  <a:tcPr>
                    <a:solidFill>
                      <a:srgbClr val="F8F9FA"/>
                    </a:solidFill>
                  </a:tcPr>
                </a:tc>
                <a:tc>
                  <a:txBody>
                    <a:bodyPr/>
                    <a:lstStyle/>
                    <a:p>
                      <a:pPr algn="l">
                        <a:defRPr sz="1100">
                          <a:solidFill>
                            <a:srgbClr val="212529"/>
                          </a:solidFill>
                        </a:defRPr>
                      </a:pPr>
                      <a:r>
                        <a:t>GAN-based evasion generation</a:t>
                      </a:r>
                    </a:p>
                  </a:txBody>
                  <a:tcPr>
                    <a:solidFill>
                      <a:srgbClr val="F8F9FA"/>
                    </a:solidFill>
                  </a:tcPr>
                </a:tc>
                <a:tc>
                  <a:txBody>
                    <a:bodyPr/>
                    <a:lstStyle/>
                    <a:p>
                      <a:pPr algn="l">
                        <a:defRPr sz="1100">
                          <a:solidFill>
                            <a:srgbClr val="212529"/>
                          </a:solidFill>
                        </a:defRPr>
                      </a:pPr>
                      <a:r>
                        <a:t>Evasion reduces detection accuracy by 40%</a:t>
                      </a:r>
                    </a:p>
                  </a:txBody>
                  <a:tcPr>
                    <a:solidFill>
                      <a:srgbClr val="F8F9FA"/>
                    </a:solidFill>
                  </a:tcPr>
                </a:tc>
                <a:tc>
                  <a:txBody>
                    <a:bodyPr/>
                    <a:lstStyle/>
                    <a:p>
                      <a:pPr algn="l">
                        <a:defRPr sz="1100">
                          <a:solidFill>
                            <a:srgbClr val="212529"/>
                          </a:solidFill>
                        </a:defRPr>
                      </a:pPr>
                      <a:r>
                        <a:t>Focuses solely on attack, no defense integration</a:t>
                      </a:r>
                    </a:p>
                  </a:txBody>
                  <a:tcPr>
                    <a:solidFill>
                      <a:srgbClr val="F8F9FA"/>
                    </a:solidFill>
                  </a:tcPr>
                </a:tc>
                <a:extLst>
                  <a:ext uri="{0D108BD9-81ED-4DB2-BD59-A6C34878D82A}">
                    <a16:rowId xmlns:a16="http://schemas.microsoft.com/office/drawing/2014/main" val="10001"/>
                  </a:ext>
                </a:extLst>
              </a:tr>
              <a:tr h="627017">
                <a:tc>
                  <a:txBody>
                    <a:bodyPr/>
                    <a:lstStyle/>
                    <a:p>
                      <a:pPr algn="l">
                        <a:defRPr sz="1100">
                          <a:solidFill>
                            <a:srgbClr val="212529"/>
                          </a:solidFill>
                        </a:defRPr>
                      </a:pPr>
                      <a:r>
                        <a:t>2</a:t>
                      </a:r>
                    </a:p>
                  </a:txBody>
                  <a:tcPr>
                    <a:solidFill>
                      <a:srgbClr val="FFFFFF"/>
                    </a:solidFill>
                  </a:tcPr>
                </a:tc>
                <a:tc>
                  <a:txBody>
                    <a:bodyPr/>
                    <a:lstStyle/>
                    <a:p>
                      <a:pPr algn="l">
                        <a:defRPr sz="1100">
                          <a:solidFill>
                            <a:srgbClr val="212529"/>
                          </a:solidFill>
                        </a:defRPr>
                      </a:pPr>
                      <a:r>
                        <a:t>Adversarial Examples in Network Traffic</a:t>
                      </a:r>
                    </a:p>
                  </a:txBody>
                  <a:tcPr>
                    <a:solidFill>
                      <a:srgbClr val="FFFFFF"/>
                    </a:solidFill>
                  </a:tcPr>
                </a:tc>
                <a:tc>
                  <a:txBody>
                    <a:bodyPr/>
                    <a:lstStyle/>
                    <a:p>
                      <a:pPr algn="l">
                        <a:defRPr sz="1100">
                          <a:solidFill>
                            <a:srgbClr val="212529"/>
                          </a:solidFill>
                        </a:defRPr>
                      </a:pPr>
                      <a:r>
                        <a:t>Zhang et al.</a:t>
                      </a:r>
                    </a:p>
                  </a:txBody>
                  <a:tcPr>
                    <a:solidFill>
                      <a:srgbClr val="FFFFFF"/>
                    </a:solidFill>
                  </a:tcPr>
                </a:tc>
                <a:tc>
                  <a:txBody>
                    <a:bodyPr/>
                    <a:lstStyle/>
                    <a:p>
                      <a:pPr algn="l">
                        <a:defRPr sz="1100">
                          <a:solidFill>
                            <a:srgbClr val="212529"/>
                          </a:solidFill>
                        </a:defRPr>
                      </a:pPr>
                      <a:r>
                        <a:t>FGSM / PGD Attacks</a:t>
                      </a:r>
                    </a:p>
                  </a:txBody>
                  <a:tcPr>
                    <a:solidFill>
                      <a:srgbClr val="FFFFFF"/>
                    </a:solidFill>
                  </a:tcPr>
                </a:tc>
                <a:tc>
                  <a:txBody>
                    <a:bodyPr/>
                    <a:lstStyle/>
                    <a:p>
                      <a:pPr algn="l">
                        <a:defRPr sz="1100">
                          <a:solidFill>
                            <a:srgbClr val="212529"/>
                          </a:solidFill>
                        </a:defRPr>
                      </a:pPr>
                      <a:r>
                        <a:t>Attacks successfully transfer across different models</a:t>
                      </a:r>
                    </a:p>
                  </a:txBody>
                  <a:tcPr>
                    <a:solidFill>
                      <a:srgbClr val="FFFFFF"/>
                    </a:solidFill>
                  </a:tcPr>
                </a:tc>
                <a:tc>
                  <a:txBody>
                    <a:bodyPr/>
                    <a:lstStyle/>
                    <a:p>
                      <a:pPr algn="l">
                        <a:defRPr sz="1100">
                          <a:solidFill>
                            <a:srgbClr val="212529"/>
                          </a:solidFill>
                        </a:defRPr>
                      </a:pPr>
                      <a:r>
                        <a:t>Does not explore defense mechanisms against transferred attacks</a:t>
                      </a:r>
                    </a:p>
                  </a:txBody>
                  <a:tcPr>
                    <a:solidFill>
                      <a:srgbClr val="FFFFFF"/>
                    </a:solidFill>
                  </a:tcPr>
                </a:tc>
                <a:extLst>
                  <a:ext uri="{0D108BD9-81ED-4DB2-BD59-A6C34878D82A}">
                    <a16:rowId xmlns:a16="http://schemas.microsoft.com/office/drawing/2014/main" val="10002"/>
                  </a:ext>
                </a:extLst>
              </a:tr>
              <a:tr h="627017">
                <a:tc>
                  <a:txBody>
                    <a:bodyPr/>
                    <a:lstStyle/>
                    <a:p>
                      <a:pPr algn="l">
                        <a:defRPr sz="1100">
                          <a:solidFill>
                            <a:srgbClr val="212529"/>
                          </a:solidFill>
                        </a:defRPr>
                      </a:pPr>
                      <a:r>
                        <a:t>3</a:t>
                      </a:r>
                    </a:p>
                  </a:txBody>
                  <a:tcPr>
                    <a:solidFill>
                      <a:srgbClr val="F8F9FA"/>
                    </a:solidFill>
                  </a:tcPr>
                </a:tc>
                <a:tc>
                  <a:txBody>
                    <a:bodyPr/>
                    <a:lstStyle/>
                    <a:p>
                      <a:pPr algn="l">
                        <a:defRPr sz="1100">
                          <a:solidFill>
                            <a:srgbClr val="212529"/>
                          </a:solidFill>
                        </a:defRPr>
                      </a:pPr>
                      <a:r>
                        <a:t>Adversarial Attacks/Defenses in NIDS: Survey</a:t>
                      </a:r>
                    </a:p>
                  </a:txBody>
                  <a:tcPr>
                    <a:solidFill>
                      <a:srgbClr val="F8F9FA"/>
                    </a:solidFill>
                  </a:tcPr>
                </a:tc>
                <a:tc>
                  <a:txBody>
                    <a:bodyPr/>
                    <a:lstStyle/>
                    <a:p>
                      <a:pPr algn="l">
                        <a:defRPr sz="1100">
                          <a:solidFill>
                            <a:srgbClr val="212529"/>
                          </a:solidFill>
                        </a:defRPr>
                      </a:pPr>
                      <a:r>
                        <a:t>Lin et al.</a:t>
                      </a:r>
                    </a:p>
                  </a:txBody>
                  <a:tcPr>
                    <a:solidFill>
                      <a:srgbClr val="F8F9FA"/>
                    </a:solidFill>
                  </a:tcPr>
                </a:tc>
                <a:tc>
                  <a:txBody>
                    <a:bodyPr/>
                    <a:lstStyle/>
                    <a:p>
                      <a:pPr algn="l">
                        <a:defRPr sz="1100">
                          <a:solidFill>
                            <a:srgbClr val="212529"/>
                          </a:solidFill>
                        </a:defRPr>
                      </a:pPr>
                      <a:r>
                        <a:t>Systematic Literature Review</a:t>
                      </a:r>
                    </a:p>
                  </a:txBody>
                  <a:tcPr>
                    <a:solidFill>
                      <a:srgbClr val="F8F9FA"/>
                    </a:solidFill>
                  </a:tcPr>
                </a:tc>
                <a:tc>
                  <a:txBody>
                    <a:bodyPr/>
                    <a:lstStyle/>
                    <a:p>
                      <a:pPr algn="l">
                        <a:defRPr sz="1100">
                          <a:solidFill>
                            <a:srgbClr val="212529"/>
                          </a:solidFill>
                        </a:defRPr>
                      </a:pPr>
                      <a:r>
                        <a:t>Comprehensive taxonomy of attacks</a:t>
                      </a:r>
                    </a:p>
                  </a:txBody>
                  <a:tcPr>
                    <a:solidFill>
                      <a:srgbClr val="F8F9FA"/>
                    </a:solidFill>
                  </a:tcPr>
                </a:tc>
                <a:tc>
                  <a:txBody>
                    <a:bodyPr/>
                    <a:lstStyle/>
                    <a:p>
                      <a:pPr algn="l">
                        <a:defRPr sz="1100">
                          <a:solidFill>
                            <a:srgbClr val="212529"/>
                          </a:solidFill>
                        </a:defRPr>
                      </a:pPr>
                      <a:r>
                        <a:t>Lacks a practical unified defense implementation</a:t>
                      </a:r>
                    </a:p>
                  </a:txBody>
                  <a:tcPr>
                    <a:solidFill>
                      <a:srgbClr val="F8F9FA"/>
                    </a:solidFill>
                  </a:tcPr>
                </a:tc>
                <a:extLst>
                  <a:ext uri="{0D108BD9-81ED-4DB2-BD59-A6C34878D82A}">
                    <a16:rowId xmlns:a16="http://schemas.microsoft.com/office/drawing/2014/main" val="10003"/>
                  </a:ext>
                </a:extLst>
              </a:tr>
              <a:tr h="627017">
                <a:tc>
                  <a:txBody>
                    <a:bodyPr/>
                    <a:lstStyle/>
                    <a:p>
                      <a:pPr algn="l">
                        <a:defRPr sz="1100">
                          <a:solidFill>
                            <a:srgbClr val="212529"/>
                          </a:solidFill>
                        </a:defRPr>
                      </a:pPr>
                      <a:r>
                        <a:t>4</a:t>
                      </a:r>
                    </a:p>
                  </a:txBody>
                  <a:tcPr>
                    <a:solidFill>
                      <a:srgbClr val="FFFFFF"/>
                    </a:solidFill>
                  </a:tcPr>
                </a:tc>
                <a:tc>
                  <a:txBody>
                    <a:bodyPr/>
                    <a:lstStyle/>
                    <a:p>
                      <a:pPr algn="l">
                        <a:defRPr sz="1100">
                          <a:solidFill>
                            <a:srgbClr val="212529"/>
                          </a:solidFill>
                        </a:defRPr>
                      </a:pPr>
                      <a:r>
                        <a:t>Adversarial Robustness of ML-based NIDS</a:t>
                      </a:r>
                    </a:p>
                  </a:txBody>
                  <a:tcPr>
                    <a:solidFill>
                      <a:srgbClr val="FFFFFF"/>
                    </a:solidFill>
                  </a:tcPr>
                </a:tc>
                <a:tc>
                  <a:txBody>
                    <a:bodyPr/>
                    <a:lstStyle/>
                    <a:p>
                      <a:pPr algn="l">
                        <a:defRPr sz="1100">
                          <a:solidFill>
                            <a:srgbClr val="212529"/>
                          </a:solidFill>
                        </a:defRPr>
                      </a:pPr>
                      <a:r>
                        <a:t>Apruzzese et al.</a:t>
                      </a:r>
                    </a:p>
                  </a:txBody>
                  <a:tcPr>
                    <a:solidFill>
                      <a:srgbClr val="FFFFFF"/>
                    </a:solidFill>
                  </a:tcPr>
                </a:tc>
                <a:tc>
                  <a:txBody>
                    <a:bodyPr/>
                    <a:lstStyle/>
                    <a:p>
                      <a:pPr algn="l">
                        <a:defRPr sz="1100">
                          <a:solidFill>
                            <a:srgbClr val="212529"/>
                          </a:solidFill>
                        </a:defRPr>
                      </a:pPr>
                      <a:r>
                        <a:t>Empirical evaluation (RF, DNN)</a:t>
                      </a:r>
                    </a:p>
                  </a:txBody>
                  <a:tcPr>
                    <a:solidFill>
                      <a:srgbClr val="FFFFFF"/>
                    </a:solidFill>
                  </a:tcPr>
                </a:tc>
                <a:tc>
                  <a:txBody>
                    <a:bodyPr/>
                    <a:lstStyle/>
                    <a:p>
                      <a:pPr algn="l">
                        <a:defRPr sz="1100">
                          <a:solidFill>
                            <a:srgbClr val="212529"/>
                          </a:solidFill>
                        </a:defRPr>
                      </a:pPr>
                      <a:r>
                        <a:t>Ensemble models show better robustness</a:t>
                      </a:r>
                    </a:p>
                  </a:txBody>
                  <a:tcPr>
                    <a:solidFill>
                      <a:srgbClr val="FFFFFF"/>
                    </a:solidFill>
                  </a:tcPr>
                </a:tc>
                <a:tc>
                  <a:txBody>
                    <a:bodyPr/>
                    <a:lstStyle/>
                    <a:p>
                      <a:pPr algn="l">
                        <a:defRPr sz="1100">
                          <a:solidFill>
                            <a:srgbClr val="212529"/>
                          </a:solidFill>
                        </a:defRPr>
                      </a:pPr>
                      <a:r>
                        <a:t>Latency and resource constraints not evaluated</a:t>
                      </a:r>
                    </a:p>
                  </a:txBody>
                  <a:tcPr>
                    <a:solidFill>
                      <a:srgbClr val="FFFFFF"/>
                    </a:solidFill>
                  </a:tcPr>
                </a:tc>
                <a:extLst>
                  <a:ext uri="{0D108BD9-81ED-4DB2-BD59-A6C34878D82A}">
                    <a16:rowId xmlns:a16="http://schemas.microsoft.com/office/drawing/2014/main" val="10004"/>
                  </a:ext>
                </a:extLst>
              </a:tr>
              <a:tr h="627017">
                <a:tc>
                  <a:txBody>
                    <a:bodyPr/>
                    <a:lstStyle/>
                    <a:p>
                      <a:pPr algn="l">
                        <a:defRPr sz="1100">
                          <a:solidFill>
                            <a:srgbClr val="212529"/>
                          </a:solidFill>
                        </a:defRPr>
                      </a:pPr>
                      <a:r>
                        <a:t>5</a:t>
                      </a:r>
                    </a:p>
                  </a:txBody>
                  <a:tcPr>
                    <a:solidFill>
                      <a:srgbClr val="F8F9FA"/>
                    </a:solidFill>
                  </a:tcPr>
                </a:tc>
                <a:tc>
                  <a:txBody>
                    <a:bodyPr/>
                    <a:lstStyle/>
                    <a:p>
                      <a:pPr algn="l">
                        <a:defRPr sz="1100">
                          <a:solidFill>
                            <a:srgbClr val="212529"/>
                          </a:solidFill>
                        </a:defRPr>
                      </a:pPr>
                      <a:r>
                        <a:t>Towards Deep Learning Models Resistant...</a:t>
                      </a:r>
                    </a:p>
                  </a:txBody>
                  <a:tcPr>
                    <a:solidFill>
                      <a:srgbClr val="F8F9FA"/>
                    </a:solidFill>
                  </a:tcPr>
                </a:tc>
                <a:tc>
                  <a:txBody>
                    <a:bodyPr/>
                    <a:lstStyle/>
                    <a:p>
                      <a:pPr algn="l">
                        <a:defRPr sz="1100">
                          <a:solidFill>
                            <a:srgbClr val="212529"/>
                          </a:solidFill>
                        </a:defRPr>
                      </a:pPr>
                      <a:r>
                        <a:t>Madry et al.</a:t>
                      </a:r>
                    </a:p>
                  </a:txBody>
                  <a:tcPr>
                    <a:solidFill>
                      <a:srgbClr val="F8F9FA"/>
                    </a:solidFill>
                  </a:tcPr>
                </a:tc>
                <a:tc>
                  <a:txBody>
                    <a:bodyPr/>
                    <a:lstStyle/>
                    <a:p>
                      <a:pPr algn="l">
                        <a:defRPr sz="1100">
                          <a:solidFill>
                            <a:srgbClr val="212529"/>
                          </a:solidFill>
                        </a:defRPr>
                      </a:pPr>
                      <a:r>
                        <a:t>PGD Adversarial Training</a:t>
                      </a:r>
                    </a:p>
                  </a:txBody>
                  <a:tcPr>
                    <a:solidFill>
                      <a:srgbClr val="F8F9FA"/>
                    </a:solidFill>
                  </a:tcPr>
                </a:tc>
                <a:tc>
                  <a:txBody>
                    <a:bodyPr/>
                    <a:lstStyle/>
                    <a:p>
                      <a:pPr algn="l">
                        <a:defRPr sz="1100">
                          <a:solidFill>
                            <a:srgbClr val="212529"/>
                          </a:solidFill>
                        </a:defRPr>
                      </a:pPr>
                      <a:r>
                        <a:t>PGD training provides certified robustness</a:t>
                      </a:r>
                    </a:p>
                  </a:txBody>
                  <a:tcPr>
                    <a:solidFill>
                      <a:srgbClr val="F8F9FA"/>
                    </a:solidFill>
                  </a:tcPr>
                </a:tc>
                <a:tc>
                  <a:txBody>
                    <a:bodyPr/>
                    <a:lstStyle/>
                    <a:p>
                      <a:pPr algn="l">
                        <a:defRPr sz="1100">
                          <a:solidFill>
                            <a:srgbClr val="212529"/>
                          </a:solidFill>
                        </a:defRPr>
                      </a:pPr>
                      <a:r>
                        <a:t>Computationally prohibitive for real-time NIDS traffic</a:t>
                      </a:r>
                    </a:p>
                  </a:txBody>
                  <a:tcPr>
                    <a:solidFill>
                      <a:srgbClr val="F8F9FA"/>
                    </a:solidFill>
                  </a:tcPr>
                </a:tc>
                <a:extLst>
                  <a:ext uri="{0D108BD9-81ED-4DB2-BD59-A6C34878D82A}">
                    <a16:rowId xmlns:a16="http://schemas.microsoft.com/office/drawing/2014/main" val="10005"/>
                  </a:ext>
                </a:extLst>
              </a:tr>
              <a:tr h="627018">
                <a:tc>
                  <a:txBody>
                    <a:bodyPr/>
                    <a:lstStyle/>
                    <a:p>
                      <a:pPr algn="l">
                        <a:defRPr sz="1100">
                          <a:solidFill>
                            <a:srgbClr val="212529"/>
                          </a:solidFill>
                        </a:defRPr>
                      </a:pPr>
                      <a:r>
                        <a:t>6</a:t>
                      </a:r>
                    </a:p>
                  </a:txBody>
                  <a:tcPr>
                    <a:solidFill>
                      <a:srgbClr val="FFFFFF"/>
                    </a:solidFill>
                  </a:tcPr>
                </a:tc>
                <a:tc>
                  <a:txBody>
                    <a:bodyPr/>
                    <a:lstStyle/>
                    <a:p>
                      <a:pPr algn="l">
                        <a:defRPr sz="1100">
                          <a:solidFill>
                            <a:srgbClr val="212529"/>
                          </a:solidFill>
                        </a:defRPr>
                      </a:pPr>
                      <a:r>
                        <a:t>Hybrid Defense Framework for NIDS</a:t>
                      </a:r>
                    </a:p>
                  </a:txBody>
                  <a:tcPr>
                    <a:solidFill>
                      <a:srgbClr val="FFFFFF"/>
                    </a:solidFill>
                  </a:tcPr>
                </a:tc>
                <a:tc>
                  <a:txBody>
                    <a:bodyPr/>
                    <a:lstStyle/>
                    <a:p>
                      <a:pPr algn="l">
                        <a:defRPr sz="1100">
                          <a:solidFill>
                            <a:srgbClr val="212529"/>
                          </a:solidFill>
                        </a:defRPr>
                      </a:pPr>
                      <a:r>
                        <a:t>Liu et al.</a:t>
                      </a:r>
                    </a:p>
                  </a:txBody>
                  <a:tcPr>
                    <a:solidFill>
                      <a:srgbClr val="FFFFFF"/>
                    </a:solidFill>
                  </a:tcPr>
                </a:tc>
                <a:tc>
                  <a:txBody>
                    <a:bodyPr/>
                    <a:lstStyle/>
                    <a:p>
                      <a:pPr algn="l">
                        <a:defRPr sz="1100">
                          <a:solidFill>
                            <a:srgbClr val="212529"/>
                          </a:solidFill>
                        </a:defRPr>
                      </a:pPr>
                      <a:r>
                        <a:t>Adversarial Training + Input Sanitization</a:t>
                      </a:r>
                    </a:p>
                  </a:txBody>
                  <a:tcPr>
                    <a:solidFill>
                      <a:srgbClr val="FFFFFF"/>
                    </a:solidFill>
                  </a:tcPr>
                </a:tc>
                <a:tc>
                  <a:txBody>
                    <a:bodyPr/>
                    <a:lstStyle/>
                    <a:p>
                      <a:pPr algn="l">
                        <a:defRPr sz="1100">
                          <a:solidFill>
                            <a:srgbClr val="212529"/>
                          </a:solidFill>
                        </a:defRPr>
                      </a:pPr>
                      <a:r>
                        <a:t>25% improvement in robustness</a:t>
                      </a:r>
                    </a:p>
                  </a:txBody>
                  <a:tcPr>
                    <a:solidFill>
                      <a:srgbClr val="FFFFFF"/>
                    </a:solidFill>
                  </a:tcPr>
                </a:tc>
                <a:tc>
                  <a:txBody>
                    <a:bodyPr/>
                    <a:lstStyle/>
                    <a:p>
                      <a:pPr algn="l">
                        <a:defRPr sz="1100">
                          <a:solidFill>
                            <a:srgbClr val="212529"/>
                          </a:solidFill>
                        </a:defRPr>
                      </a:pPr>
                      <a:r>
                        <a:t>High computational overhead, not optimized for feature-sparse traffic</a:t>
                      </a:r>
                    </a:p>
                  </a:txBody>
                  <a:tcPr>
                    <a:solidFill>
                      <a:srgbClr val="FFFFFF"/>
                    </a:solidFill>
                  </a:tcPr>
                </a:tc>
                <a:extLst>
                  <a:ext uri="{0D108BD9-81ED-4DB2-BD59-A6C34878D82A}">
                    <a16:rowId xmlns:a16="http://schemas.microsoft.com/office/drawing/2014/main" val="10006"/>
                  </a:ext>
                </a:extLst>
              </a:tr>
            </a:tbl>
          </a:graphicData>
        </a:graphic>
      </p:graphicFrame>
      <p:pic>
        <p:nvPicPr>
          <p:cNvPr id="10" name="Picture 9">
            <a:extLst>
              <a:ext uri="{FF2B5EF4-FFF2-40B4-BE49-F238E27FC236}">
                <a16:creationId xmlns:a16="http://schemas.microsoft.com/office/drawing/2014/main" id="{8A1E4F36-1753-0867-ED5E-D624F2F98E9F}"/>
              </a:ext>
            </a:extLst>
          </p:cNvPr>
          <p:cNvPicPr>
            <a:picLocks noChangeAspect="1"/>
          </p:cNvPicPr>
          <p:nvPr/>
        </p:nvPicPr>
        <p:blipFill>
          <a:blip r:embed="rId2"/>
          <a:stretch>
            <a:fillRect/>
          </a:stretch>
        </p:blipFill>
        <p:spPr>
          <a:xfrm>
            <a:off x="74142" y="130057"/>
            <a:ext cx="1458484" cy="69086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84775"/>
          </a:xfrm>
          <a:prstGeom prst="rect">
            <a:avLst/>
          </a:prstGeom>
          <a:noFill/>
        </p:spPr>
        <p:txBody>
          <a:bodyPr wrap="square">
            <a:spAutoFit/>
          </a:bodyPr>
          <a:lstStyle/>
          <a:p>
            <a:pPr algn="ctr">
              <a:defRPr sz="3200" b="1">
                <a:solidFill>
                  <a:srgbClr val="0B1E3B"/>
                </a:solidFill>
                <a:latin typeface="Calibri"/>
              </a:defRPr>
            </a:pPr>
            <a:r>
              <a:rPr dirty="0"/>
              <a:t>Innovation, Creativity, and </a:t>
            </a:r>
            <a:r>
              <a:rPr dirty="0" smtClean="0"/>
              <a:t>Novelty</a:t>
            </a:r>
            <a:endParaRPr dirty="0"/>
          </a:p>
        </p:txBody>
      </p:sp>
      <p:sp>
        <p:nvSpPr>
          <p:cNvPr id="5" name="Rectangle 4"/>
          <p:cNvSpPr/>
          <p:nvPr/>
        </p:nvSpPr>
        <p:spPr>
          <a:xfrm>
            <a:off x="0" y="6537960"/>
            <a:ext cx="12191695" cy="320040"/>
          </a:xfrm>
          <a:prstGeom prst="rect">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65392"/>
            <a:ext cx="2743200" cy="274320"/>
          </a:xfrm>
          <a:prstGeom prst="rect">
            <a:avLst/>
          </a:prstGeom>
          <a:noFill/>
        </p:spPr>
        <p:txBody>
          <a:bodyPr wrap="none">
            <a:spAutoFit/>
          </a:bodyPr>
          <a:lstStyle/>
          <a:p>
            <a:pPr>
              <a:defRPr sz="1200">
                <a:solidFill>
                  <a:srgbClr val="FFFFFF"/>
                </a:solidFill>
                <a:latin typeface="Calibri"/>
              </a:defRPr>
            </a:pPr>
            <a:r>
              <a:t>22-08-2026</a:t>
            </a:r>
          </a:p>
        </p:txBody>
      </p:sp>
      <p:sp>
        <p:nvSpPr>
          <p:cNvPr id="7" name="TextBox 6"/>
          <p:cNvSpPr txBox="1"/>
          <p:nvPr/>
        </p:nvSpPr>
        <p:spPr>
          <a:xfrm>
            <a:off x="9601200" y="6565392"/>
            <a:ext cx="2103120" cy="274320"/>
          </a:xfrm>
          <a:prstGeom prst="rect">
            <a:avLst/>
          </a:prstGeom>
          <a:noFill/>
        </p:spPr>
        <p:txBody>
          <a:bodyPr wrap="none">
            <a:spAutoFit/>
          </a:bodyPr>
          <a:lstStyle/>
          <a:p>
            <a:pPr algn="r">
              <a:defRPr sz="1200">
                <a:solidFill>
                  <a:srgbClr val="FFFFFF"/>
                </a:solidFill>
                <a:latin typeface="Calibri"/>
              </a:defRPr>
            </a:pPr>
            <a:r>
              <a:t>PRC-I  |  AdversarialShield</a:t>
            </a:r>
          </a:p>
        </p:txBody>
      </p:sp>
      <p:sp>
        <p:nvSpPr>
          <p:cNvPr id="8" name="Rounded Rectangle 7"/>
          <p:cNvSpPr/>
          <p:nvPr/>
        </p:nvSpPr>
        <p:spPr>
          <a:xfrm>
            <a:off x="457200" y="1097280"/>
            <a:ext cx="5029200" cy="2011680"/>
          </a:xfrm>
          <a:prstGeom prst="roundRect">
            <a:avLst/>
          </a:prstGeom>
          <a:solidFill>
            <a:srgbClr val="EBF5FF"/>
          </a:solidFill>
          <a:ln>
            <a:solidFill>
              <a:srgbClr val="C8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188720"/>
            <a:ext cx="4663440" cy="1828800"/>
          </a:xfrm>
          <a:prstGeom prst="rect">
            <a:avLst/>
          </a:prstGeom>
          <a:noFill/>
        </p:spPr>
        <p:txBody>
          <a:bodyPr wrap="square">
            <a:spAutoFit/>
          </a:bodyPr>
          <a:lstStyle/>
          <a:p>
            <a:pPr>
              <a:spcAft>
                <a:spcPts val="600"/>
              </a:spcAft>
              <a:defRPr sz="2000" b="1">
                <a:solidFill>
                  <a:srgbClr val="0B1E3B"/>
                </a:solidFill>
              </a:defRPr>
            </a:pPr>
            <a:r>
              <a:t>What is Already Known</a:t>
            </a:r>
          </a:p>
          <a:p>
            <a:pPr>
              <a:spcAft>
                <a:spcPts val="400"/>
              </a:spcAft>
              <a:defRPr sz="1500">
                <a:solidFill>
                  <a:srgbClr val="212529"/>
                </a:solidFill>
              </a:defRPr>
            </a:pPr>
            <a:r>
              <a:t>• Adversarial attacks (FGSM, PGD) can fool ML models.</a:t>
            </a:r>
          </a:p>
          <a:p>
            <a:pPr>
              <a:spcAft>
                <a:spcPts val="400"/>
              </a:spcAft>
              <a:defRPr sz="1500">
                <a:solidFill>
                  <a:srgbClr val="212529"/>
                </a:solidFill>
              </a:defRPr>
            </a:pPr>
            <a:r>
              <a:t>• Adversarial training improves robustness to some extent.</a:t>
            </a:r>
          </a:p>
          <a:p>
            <a:pPr>
              <a:spcAft>
                <a:spcPts val="400"/>
              </a:spcAft>
              <a:defRPr sz="1500">
                <a:solidFill>
                  <a:srgbClr val="212529"/>
                </a:solidFill>
              </a:defRPr>
            </a:pPr>
            <a:r>
              <a:t>• Libraries like ART and CleverHans provide attack implementations.</a:t>
            </a:r>
          </a:p>
        </p:txBody>
      </p:sp>
      <p:sp>
        <p:nvSpPr>
          <p:cNvPr id="10" name="Rounded Rectangle 9"/>
          <p:cNvSpPr/>
          <p:nvPr/>
        </p:nvSpPr>
        <p:spPr>
          <a:xfrm>
            <a:off x="6217920" y="1097280"/>
            <a:ext cx="5486400" cy="2011680"/>
          </a:xfrm>
          <a:prstGeom prst="roundRect">
            <a:avLst/>
          </a:prstGeom>
          <a:solidFill>
            <a:srgbClr val="FFF8EB"/>
          </a:solidFill>
          <a:ln>
            <a:solidFill>
              <a:srgbClr val="F0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1188720"/>
            <a:ext cx="5120640" cy="1828800"/>
          </a:xfrm>
          <a:prstGeom prst="rect">
            <a:avLst/>
          </a:prstGeom>
          <a:noFill/>
        </p:spPr>
        <p:txBody>
          <a:bodyPr wrap="square">
            <a:spAutoFit/>
          </a:bodyPr>
          <a:lstStyle/>
          <a:p>
            <a:pPr>
              <a:spcAft>
                <a:spcPts val="600"/>
              </a:spcAft>
              <a:defRPr sz="2000" b="1">
                <a:solidFill>
                  <a:srgbClr val="0B1E3B"/>
                </a:solidFill>
              </a:defRPr>
            </a:pPr>
            <a:r>
              <a:t>Our Proposed Contribution (Novelty)</a:t>
            </a:r>
          </a:p>
          <a:p>
            <a:pPr>
              <a:spcAft>
                <a:spcPts val="400"/>
              </a:spcAft>
              <a:defRPr sz="1500">
                <a:solidFill>
                  <a:srgbClr val="212529"/>
                </a:solidFill>
              </a:defRPr>
            </a:pPr>
            <a:r>
              <a:t>• Unified attack‑defense‑evaluation pipeline for NIDS.</a:t>
            </a:r>
          </a:p>
          <a:p>
            <a:pPr>
              <a:spcAft>
                <a:spcPts val="400"/>
              </a:spcAft>
              <a:defRPr sz="1500">
                <a:solidFill>
                  <a:srgbClr val="212529"/>
                </a:solidFill>
              </a:defRPr>
            </a:pPr>
            <a:r>
              <a:t>• Hybrid defense: adversarial training + sanitization + ensemble.</a:t>
            </a:r>
          </a:p>
          <a:p>
            <a:pPr>
              <a:spcAft>
                <a:spcPts val="400"/>
              </a:spcAft>
              <a:defRPr sz="1500">
                <a:solidFill>
                  <a:srgbClr val="212529"/>
                </a:solidFill>
              </a:defRPr>
            </a:pPr>
            <a:r>
              <a:t>• Custom robustness score for multi‑intensity attacks.</a:t>
            </a:r>
          </a:p>
          <a:p>
            <a:pPr>
              <a:spcAft>
                <a:spcPts val="400"/>
              </a:spcAft>
              <a:defRPr sz="1500">
                <a:solidFill>
                  <a:srgbClr val="212529"/>
                </a:solidFill>
              </a:defRPr>
            </a:pPr>
            <a:r>
              <a:t>• Feature‑engineering tailored to network traffic.</a:t>
            </a:r>
          </a:p>
          <a:p>
            <a:pPr>
              <a:spcAft>
                <a:spcPts val="400"/>
              </a:spcAft>
              <a:defRPr sz="1500">
                <a:solidFill>
                  <a:srgbClr val="212529"/>
                </a:solidFill>
              </a:defRPr>
            </a:pPr>
            <a:r>
              <a:t>• Reproducible evaluation with public datasets.</a:t>
            </a:r>
          </a:p>
        </p:txBody>
      </p:sp>
      <p:sp>
        <p:nvSpPr>
          <p:cNvPr id="12" name="Rounded Rectangle 11"/>
          <p:cNvSpPr/>
          <p:nvPr/>
        </p:nvSpPr>
        <p:spPr>
          <a:xfrm>
            <a:off x="1371600" y="3474720"/>
            <a:ext cx="2286000" cy="731520"/>
          </a:xfrm>
          <a:prstGeom prst="roundRect">
            <a:avLst/>
          </a:prstGeom>
          <a:solidFill>
            <a:srgbClr val="FF7F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554480" y="3566160"/>
            <a:ext cx="1920240" cy="548640"/>
          </a:xfrm>
          <a:prstGeom prst="rect">
            <a:avLst/>
          </a:prstGeom>
          <a:noFill/>
        </p:spPr>
        <p:txBody>
          <a:bodyPr wrap="none">
            <a:spAutoFit/>
          </a:bodyPr>
          <a:lstStyle/>
          <a:p>
            <a:pPr algn="ctr">
              <a:defRPr sz="1600" b="1">
                <a:solidFill>
                  <a:srgbClr val="FFFFFF"/>
                </a:solidFill>
              </a:defRPr>
            </a:pPr>
            <a:r>
              <a:t>Attack Generation</a:t>
            </a:r>
          </a:p>
        </p:txBody>
      </p:sp>
      <p:sp>
        <p:nvSpPr>
          <p:cNvPr id="14" name="Right Arrow 13"/>
          <p:cNvSpPr/>
          <p:nvPr/>
        </p:nvSpPr>
        <p:spPr>
          <a:xfrm>
            <a:off x="3931920" y="3657600"/>
            <a:ext cx="1097280" cy="365760"/>
          </a:xfrm>
          <a:prstGeom prst="rightArrow">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303520" y="3474720"/>
            <a:ext cx="2286000" cy="731520"/>
          </a:xfrm>
          <a:prstGeom prst="roundRect">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0" y="3566160"/>
            <a:ext cx="1920240" cy="548640"/>
          </a:xfrm>
          <a:prstGeom prst="rect">
            <a:avLst/>
          </a:prstGeom>
          <a:noFill/>
        </p:spPr>
        <p:txBody>
          <a:bodyPr wrap="none">
            <a:spAutoFit/>
          </a:bodyPr>
          <a:lstStyle/>
          <a:p>
            <a:pPr algn="ctr">
              <a:defRPr sz="1600" b="1">
                <a:solidFill>
                  <a:srgbClr val="FFFFFF"/>
                </a:solidFill>
              </a:defRPr>
            </a:pPr>
            <a:r>
              <a:t>Defense Module</a:t>
            </a:r>
          </a:p>
        </p:txBody>
      </p:sp>
      <p:sp>
        <p:nvSpPr>
          <p:cNvPr id="17" name="Right Arrow 16"/>
          <p:cNvSpPr/>
          <p:nvPr/>
        </p:nvSpPr>
        <p:spPr>
          <a:xfrm>
            <a:off x="7863840" y="3657600"/>
            <a:ext cx="1097280" cy="365760"/>
          </a:xfrm>
          <a:prstGeom prst="rightArrow">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235440" y="3474720"/>
            <a:ext cx="2286000" cy="731520"/>
          </a:xfrm>
          <a:prstGeom prst="roundRect">
            <a:avLst/>
          </a:prstGeom>
          <a:solidFill>
            <a:srgbClr val="FF7F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18320" y="3566160"/>
            <a:ext cx="1920240" cy="548640"/>
          </a:xfrm>
          <a:prstGeom prst="rect">
            <a:avLst/>
          </a:prstGeom>
          <a:noFill/>
        </p:spPr>
        <p:txBody>
          <a:bodyPr wrap="none">
            <a:spAutoFit/>
          </a:bodyPr>
          <a:lstStyle/>
          <a:p>
            <a:pPr algn="ctr">
              <a:defRPr sz="1600" b="1">
                <a:solidFill>
                  <a:srgbClr val="FFFFFF"/>
                </a:solidFill>
              </a:defRPr>
            </a:pPr>
            <a:r>
              <a:t>Evaluation &amp; Score</a:t>
            </a:r>
          </a:p>
        </p:txBody>
      </p:sp>
      <p:sp>
        <p:nvSpPr>
          <p:cNvPr id="20" name="TextBox 19"/>
          <p:cNvSpPr txBox="1"/>
          <p:nvPr/>
        </p:nvSpPr>
        <p:spPr>
          <a:xfrm>
            <a:off x="457200" y="4572000"/>
            <a:ext cx="11247120" cy="548640"/>
          </a:xfrm>
          <a:prstGeom prst="rect">
            <a:avLst/>
          </a:prstGeom>
          <a:noFill/>
        </p:spPr>
        <p:txBody>
          <a:bodyPr wrap="none">
            <a:spAutoFit/>
          </a:bodyPr>
          <a:lstStyle/>
          <a:p>
            <a:pPr algn="ctr">
              <a:defRPr sz="1800" b="1">
                <a:solidFill>
                  <a:srgbClr val="0B1E3B"/>
                </a:solidFill>
                <a:latin typeface="Calibri"/>
              </a:defRPr>
            </a:pPr>
            <a:r>
              <a:t>Defensible Novelty: A shift from static detection to integrated robustness evaluation with measurable metrics.</a:t>
            </a:r>
          </a:p>
        </p:txBody>
      </p:sp>
      <p:pic>
        <p:nvPicPr>
          <p:cNvPr id="21" name="Picture 20">
            <a:extLst>
              <a:ext uri="{FF2B5EF4-FFF2-40B4-BE49-F238E27FC236}">
                <a16:creationId xmlns:a16="http://schemas.microsoft.com/office/drawing/2014/main" id="{8A1E4F36-1753-0867-ED5E-D624F2F98E9F}"/>
              </a:ext>
            </a:extLst>
          </p:cNvPr>
          <p:cNvPicPr>
            <a:picLocks noChangeAspect="1"/>
          </p:cNvPicPr>
          <p:nvPr/>
        </p:nvPicPr>
        <p:blipFill>
          <a:blip r:embed="rId2"/>
          <a:stretch>
            <a:fillRect/>
          </a:stretch>
        </p:blipFill>
        <p:spPr>
          <a:xfrm>
            <a:off x="74142" y="130057"/>
            <a:ext cx="1458484" cy="69086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584775"/>
          </a:xfrm>
          <a:prstGeom prst="rect">
            <a:avLst/>
          </a:prstGeom>
          <a:noFill/>
        </p:spPr>
        <p:txBody>
          <a:bodyPr wrap="square">
            <a:spAutoFit/>
          </a:bodyPr>
          <a:lstStyle/>
          <a:p>
            <a:pPr algn="ctr">
              <a:defRPr sz="3200" b="1">
                <a:solidFill>
                  <a:srgbClr val="0B1E3B"/>
                </a:solidFill>
                <a:latin typeface="Calibri"/>
              </a:defRPr>
            </a:pPr>
            <a:r>
              <a:rPr dirty="0"/>
              <a:t>Feasibility and Project </a:t>
            </a:r>
            <a:r>
              <a:rPr dirty="0" smtClean="0"/>
              <a:t>Plan</a:t>
            </a:r>
            <a:endParaRPr dirty="0"/>
          </a:p>
        </p:txBody>
      </p:sp>
      <p:sp>
        <p:nvSpPr>
          <p:cNvPr id="5" name="Rectangle 4"/>
          <p:cNvSpPr/>
          <p:nvPr/>
        </p:nvSpPr>
        <p:spPr>
          <a:xfrm>
            <a:off x="0" y="6537960"/>
            <a:ext cx="12191695" cy="320040"/>
          </a:xfrm>
          <a:prstGeom prst="rect">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65392"/>
            <a:ext cx="2743200" cy="274320"/>
          </a:xfrm>
          <a:prstGeom prst="rect">
            <a:avLst/>
          </a:prstGeom>
          <a:noFill/>
        </p:spPr>
        <p:txBody>
          <a:bodyPr wrap="none">
            <a:spAutoFit/>
          </a:bodyPr>
          <a:lstStyle/>
          <a:p>
            <a:pPr>
              <a:defRPr sz="1200">
                <a:solidFill>
                  <a:srgbClr val="FFFFFF"/>
                </a:solidFill>
                <a:latin typeface="Calibri"/>
              </a:defRPr>
            </a:pPr>
            <a:r>
              <a:t>22-08-2026</a:t>
            </a:r>
          </a:p>
        </p:txBody>
      </p:sp>
      <p:sp>
        <p:nvSpPr>
          <p:cNvPr id="7" name="TextBox 6"/>
          <p:cNvSpPr txBox="1"/>
          <p:nvPr/>
        </p:nvSpPr>
        <p:spPr>
          <a:xfrm>
            <a:off x="9601200" y="6565392"/>
            <a:ext cx="2103120" cy="274320"/>
          </a:xfrm>
          <a:prstGeom prst="rect">
            <a:avLst/>
          </a:prstGeom>
          <a:noFill/>
        </p:spPr>
        <p:txBody>
          <a:bodyPr wrap="none">
            <a:spAutoFit/>
          </a:bodyPr>
          <a:lstStyle/>
          <a:p>
            <a:pPr algn="r">
              <a:defRPr sz="1200">
                <a:solidFill>
                  <a:srgbClr val="FFFFFF"/>
                </a:solidFill>
                <a:latin typeface="Calibri"/>
              </a:defRPr>
            </a:pPr>
            <a:r>
              <a:t>PRC-I  |  AdversarialShield</a:t>
            </a:r>
          </a:p>
        </p:txBody>
      </p:sp>
      <p:sp>
        <p:nvSpPr>
          <p:cNvPr id="8" name="Rounded Rectangle 7"/>
          <p:cNvSpPr/>
          <p:nvPr/>
        </p:nvSpPr>
        <p:spPr>
          <a:xfrm>
            <a:off x="457200" y="1097280"/>
            <a:ext cx="5486400" cy="2560320"/>
          </a:xfrm>
          <a:prstGeom prst="roundRect">
            <a:avLst/>
          </a:prstGeom>
          <a:solidFill>
            <a:srgbClr val="EBF5FF"/>
          </a:solidFill>
          <a:ln>
            <a:solidFill>
              <a:srgbClr val="C8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188720"/>
            <a:ext cx="5120640" cy="2377440"/>
          </a:xfrm>
          <a:prstGeom prst="rect">
            <a:avLst/>
          </a:prstGeom>
          <a:noFill/>
        </p:spPr>
        <p:txBody>
          <a:bodyPr wrap="square">
            <a:spAutoFit/>
          </a:bodyPr>
          <a:lstStyle/>
          <a:p>
            <a:pPr>
              <a:spcAft>
                <a:spcPts val="600"/>
              </a:spcAft>
              <a:defRPr sz="2000" b="1">
                <a:solidFill>
                  <a:srgbClr val="0B1E3B"/>
                </a:solidFill>
              </a:defRPr>
            </a:pPr>
            <a:r>
              <a:t>Technology Stack &amp; Proposed Scenarios</a:t>
            </a:r>
          </a:p>
          <a:p>
            <a:pPr>
              <a:spcAft>
                <a:spcPts val="400"/>
              </a:spcAft>
              <a:defRPr sz="1400">
                <a:solidFill>
                  <a:srgbClr val="212529"/>
                </a:solidFill>
              </a:defRPr>
            </a:pPr>
            <a:r>
              <a:t>• Datasets: NSL-KDD, CICIDS2017, UNSW-NB15 (public)</a:t>
            </a:r>
          </a:p>
          <a:p>
            <a:pPr>
              <a:spcAft>
                <a:spcPts val="400"/>
              </a:spcAft>
              <a:defRPr sz="1400">
                <a:solidFill>
                  <a:srgbClr val="212529"/>
                </a:solidFill>
              </a:defRPr>
            </a:pPr>
            <a:r>
              <a:t>• Tools: Python, TensorFlow/PyTorch, Scikit-learn</a:t>
            </a:r>
          </a:p>
          <a:p>
            <a:pPr>
              <a:spcAft>
                <a:spcPts val="400"/>
              </a:spcAft>
              <a:defRPr sz="1400">
                <a:solidFill>
                  <a:srgbClr val="212529"/>
                </a:solidFill>
              </a:defRPr>
            </a:pPr>
            <a:r>
              <a:t>• Libraries: CleverHans, Adversarial Robustness Toolbox (ART)</a:t>
            </a:r>
          </a:p>
          <a:p>
            <a:pPr>
              <a:spcAft>
                <a:spcPts val="400"/>
              </a:spcAft>
              <a:defRPr sz="1400">
                <a:solidFill>
                  <a:srgbClr val="212529"/>
                </a:solidFill>
              </a:defRPr>
            </a:pPr>
            <a:r>
              <a:t>• Infrastructure: GPU‑enabled workstations / cloud</a:t>
            </a:r>
          </a:p>
          <a:p>
            <a:pPr>
              <a:spcAft>
                <a:spcPts val="400"/>
              </a:spcAft>
              <a:defRPr sz="1400">
                <a:solidFill>
                  <a:srgbClr val="212529"/>
                </a:solidFill>
              </a:defRPr>
            </a:pPr>
            <a:r>
              <a:t>• Scenarios: Clean traffic, FGSM, PGD, adaptive attacks</a:t>
            </a:r>
          </a:p>
        </p:txBody>
      </p:sp>
      <p:sp>
        <p:nvSpPr>
          <p:cNvPr id="10" name="Rounded Rectangle 9"/>
          <p:cNvSpPr/>
          <p:nvPr/>
        </p:nvSpPr>
        <p:spPr>
          <a:xfrm>
            <a:off x="6217920" y="1097280"/>
            <a:ext cx="5486400" cy="2560320"/>
          </a:xfrm>
          <a:prstGeom prst="roundRect">
            <a:avLst/>
          </a:prstGeom>
          <a:solidFill>
            <a:srgbClr val="FFF8EB"/>
          </a:solidFill>
          <a:ln>
            <a:solidFill>
              <a:srgbClr val="F0DC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1188720"/>
            <a:ext cx="5120640" cy="2377440"/>
          </a:xfrm>
          <a:prstGeom prst="rect">
            <a:avLst/>
          </a:prstGeom>
          <a:noFill/>
        </p:spPr>
        <p:txBody>
          <a:bodyPr wrap="square">
            <a:spAutoFit/>
          </a:bodyPr>
          <a:lstStyle/>
          <a:p>
            <a:pPr>
              <a:spcAft>
                <a:spcPts val="600"/>
              </a:spcAft>
              <a:defRPr sz="2000" b="1">
                <a:solidFill>
                  <a:srgbClr val="0B1E3B"/>
                </a:solidFill>
              </a:defRPr>
            </a:pPr>
            <a:r>
              <a:t>Implementation Feasibility &amp; Evaluation</a:t>
            </a:r>
          </a:p>
          <a:p>
            <a:pPr>
              <a:spcAft>
                <a:spcPts val="400"/>
              </a:spcAft>
              <a:defRPr sz="1400">
                <a:solidFill>
                  <a:srgbClr val="212529"/>
                </a:solidFill>
              </a:defRPr>
            </a:pPr>
            <a:r>
              <a:t>• All datasets are publicly available.</a:t>
            </a:r>
          </a:p>
          <a:p>
            <a:pPr>
              <a:spcAft>
                <a:spcPts val="400"/>
              </a:spcAft>
              <a:defRPr sz="1400">
                <a:solidFill>
                  <a:srgbClr val="212529"/>
                </a:solidFill>
              </a:defRPr>
            </a:pPr>
            <a:r>
              <a:t>• Open‑source libraries reduce development time.</a:t>
            </a:r>
          </a:p>
          <a:p>
            <a:pPr>
              <a:spcAft>
                <a:spcPts val="400"/>
              </a:spcAft>
              <a:defRPr sz="1400">
                <a:solidFill>
                  <a:srgbClr val="212529"/>
                </a:solidFill>
              </a:defRPr>
            </a:pPr>
            <a:r>
              <a:t>• Simulated attacks (no live malware) keep the project safe.</a:t>
            </a:r>
          </a:p>
          <a:p>
            <a:pPr>
              <a:spcAft>
                <a:spcPts val="400"/>
              </a:spcAft>
              <a:defRPr sz="1400">
                <a:solidFill>
                  <a:srgbClr val="212529"/>
                </a:solidFill>
              </a:defRPr>
            </a:pPr>
            <a:r>
              <a:t>• Evaluation Metrics: Accuracy, Precision, Recall, F1, Robustness Score, Detection Latency.</a:t>
            </a:r>
          </a:p>
        </p:txBody>
      </p:sp>
      <p:sp>
        <p:nvSpPr>
          <p:cNvPr id="12" name="Rounded Rectangle 11"/>
          <p:cNvSpPr/>
          <p:nvPr/>
        </p:nvSpPr>
        <p:spPr>
          <a:xfrm>
            <a:off x="457200" y="3840480"/>
            <a:ext cx="11247120" cy="1463040"/>
          </a:xfrm>
          <a:prstGeom prst="roundRect">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931920"/>
            <a:ext cx="10881360" cy="1188720"/>
          </a:xfrm>
          <a:prstGeom prst="rect">
            <a:avLst/>
          </a:prstGeom>
          <a:noFill/>
        </p:spPr>
        <p:txBody>
          <a:bodyPr wrap="square">
            <a:spAutoFit/>
          </a:bodyPr>
          <a:lstStyle/>
          <a:p>
            <a:pPr>
              <a:spcAft>
                <a:spcPts val="200"/>
              </a:spcAft>
              <a:defRPr sz="1300">
                <a:solidFill>
                  <a:srgbClr val="FFFFFF"/>
                </a:solidFill>
                <a:latin typeface="Calibri"/>
              </a:defRPr>
            </a:pPr>
            <a:r>
              <a:t>• Phase 1 (Weeks 1-3): Literature Survey &amp; Requirement Analysis</a:t>
            </a:r>
          </a:p>
          <a:p>
            <a:pPr>
              <a:spcAft>
                <a:spcPts val="200"/>
              </a:spcAft>
              <a:defRPr sz="1300">
                <a:solidFill>
                  <a:srgbClr val="FFFFFF"/>
                </a:solidFill>
                <a:latin typeface="Calibri"/>
              </a:defRPr>
            </a:pPr>
            <a:r>
              <a:t>• Phase 2 (Weeks 4-6): Baseline Model Development (RF, SVM, DNN)</a:t>
            </a:r>
          </a:p>
          <a:p>
            <a:pPr>
              <a:spcAft>
                <a:spcPts val="200"/>
              </a:spcAft>
              <a:defRPr sz="1300">
                <a:solidFill>
                  <a:srgbClr val="FFFFFF"/>
                </a:solidFill>
                <a:latin typeface="Calibri"/>
              </a:defRPr>
            </a:pPr>
            <a:r>
              <a:t>• Phase 3 (Weeks 7-9): Adversarial Attack Module (FGSM, PGD)</a:t>
            </a:r>
          </a:p>
          <a:p>
            <a:pPr>
              <a:spcAft>
                <a:spcPts val="200"/>
              </a:spcAft>
              <a:defRPr sz="1300">
                <a:solidFill>
                  <a:srgbClr val="FFFFFF"/>
                </a:solidFill>
                <a:latin typeface="Calibri"/>
              </a:defRPr>
            </a:pPr>
            <a:r>
              <a:t>• Phase 4 (Weeks 10-13): Defense Framework Implementation</a:t>
            </a:r>
          </a:p>
          <a:p>
            <a:pPr>
              <a:spcAft>
                <a:spcPts val="200"/>
              </a:spcAft>
              <a:defRPr sz="1300">
                <a:solidFill>
                  <a:srgbClr val="FFFFFF"/>
                </a:solidFill>
                <a:latin typeface="Calibri"/>
              </a:defRPr>
            </a:pPr>
            <a:r>
              <a:t>• Phase 5 (Weeks 14-16): Evaluation &amp; Benchmarking</a:t>
            </a:r>
          </a:p>
          <a:p>
            <a:pPr>
              <a:spcAft>
                <a:spcPts val="200"/>
              </a:spcAft>
              <a:defRPr sz="1300">
                <a:solidFill>
                  <a:srgbClr val="FFFFFF"/>
                </a:solidFill>
                <a:latin typeface="Calibri"/>
              </a:defRPr>
            </a:pPr>
            <a:r>
              <a:t>• Phase 6 (Weeks 17-18): Documentation &amp; Final Review</a:t>
            </a:r>
          </a:p>
        </p:txBody>
      </p:sp>
      <p:pic>
        <p:nvPicPr>
          <p:cNvPr id="14" name="Picture 13">
            <a:extLst>
              <a:ext uri="{FF2B5EF4-FFF2-40B4-BE49-F238E27FC236}">
                <a16:creationId xmlns:a16="http://schemas.microsoft.com/office/drawing/2014/main" id="{8A1E4F36-1753-0867-ED5E-D624F2F98E9F}"/>
              </a:ext>
            </a:extLst>
          </p:cNvPr>
          <p:cNvPicPr>
            <a:picLocks noChangeAspect="1"/>
          </p:cNvPicPr>
          <p:nvPr/>
        </p:nvPicPr>
        <p:blipFill>
          <a:blip r:embed="rId2"/>
          <a:stretch>
            <a:fillRect/>
          </a:stretch>
        </p:blipFill>
        <p:spPr>
          <a:xfrm>
            <a:off x="74142" y="130057"/>
            <a:ext cx="1458484" cy="69086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08890" cy="584775"/>
          </a:xfrm>
          <a:prstGeom prst="rect">
            <a:avLst/>
          </a:prstGeom>
          <a:noFill/>
        </p:spPr>
        <p:txBody>
          <a:bodyPr wrap="square">
            <a:spAutoFit/>
          </a:bodyPr>
          <a:lstStyle/>
          <a:p>
            <a:pPr algn="ctr">
              <a:defRPr sz="3200" b="1">
                <a:solidFill>
                  <a:srgbClr val="0B1E3B"/>
                </a:solidFill>
                <a:latin typeface="Calibri"/>
              </a:defRPr>
            </a:pPr>
            <a:r>
              <a:rPr dirty="0" smtClean="0"/>
              <a:t>Conclusion</a:t>
            </a:r>
            <a:endParaRPr dirty="0"/>
          </a:p>
        </p:txBody>
      </p:sp>
      <p:sp>
        <p:nvSpPr>
          <p:cNvPr id="5" name="Rectangle 4"/>
          <p:cNvSpPr/>
          <p:nvPr/>
        </p:nvSpPr>
        <p:spPr>
          <a:xfrm>
            <a:off x="0" y="6537960"/>
            <a:ext cx="12191695" cy="320040"/>
          </a:xfrm>
          <a:prstGeom prst="rect">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65392"/>
            <a:ext cx="2743200" cy="274320"/>
          </a:xfrm>
          <a:prstGeom prst="rect">
            <a:avLst/>
          </a:prstGeom>
          <a:noFill/>
        </p:spPr>
        <p:txBody>
          <a:bodyPr wrap="none">
            <a:spAutoFit/>
          </a:bodyPr>
          <a:lstStyle/>
          <a:p>
            <a:pPr>
              <a:defRPr sz="1200">
                <a:solidFill>
                  <a:srgbClr val="FFFFFF"/>
                </a:solidFill>
                <a:latin typeface="Calibri"/>
              </a:defRPr>
            </a:pPr>
            <a:r>
              <a:t>22-08-2026</a:t>
            </a:r>
          </a:p>
        </p:txBody>
      </p:sp>
      <p:sp>
        <p:nvSpPr>
          <p:cNvPr id="7" name="TextBox 6"/>
          <p:cNvSpPr txBox="1"/>
          <p:nvPr/>
        </p:nvSpPr>
        <p:spPr>
          <a:xfrm>
            <a:off x="9601200" y="6565392"/>
            <a:ext cx="2103120" cy="274320"/>
          </a:xfrm>
          <a:prstGeom prst="rect">
            <a:avLst/>
          </a:prstGeom>
          <a:noFill/>
        </p:spPr>
        <p:txBody>
          <a:bodyPr wrap="none">
            <a:spAutoFit/>
          </a:bodyPr>
          <a:lstStyle/>
          <a:p>
            <a:pPr algn="r">
              <a:defRPr sz="1200">
                <a:solidFill>
                  <a:srgbClr val="FFFFFF"/>
                </a:solidFill>
                <a:latin typeface="Calibri"/>
              </a:defRPr>
            </a:pPr>
            <a:r>
              <a:t>PRC-I  |  AdversarialShield</a:t>
            </a:r>
          </a:p>
        </p:txBody>
      </p:sp>
      <p:sp>
        <p:nvSpPr>
          <p:cNvPr id="8" name="TextBox 7"/>
          <p:cNvSpPr txBox="1"/>
          <p:nvPr/>
        </p:nvSpPr>
        <p:spPr>
          <a:xfrm>
            <a:off x="457200" y="1188720"/>
            <a:ext cx="11247120" cy="4572000"/>
          </a:xfrm>
          <a:prstGeom prst="rect">
            <a:avLst/>
          </a:prstGeom>
          <a:noFill/>
        </p:spPr>
        <p:txBody>
          <a:bodyPr wrap="square">
            <a:spAutoFit/>
          </a:bodyPr>
          <a:lstStyle/>
          <a:p>
            <a:pPr>
              <a:spcAft>
                <a:spcPts val="800"/>
              </a:spcAft>
              <a:defRPr sz="2200">
                <a:solidFill>
                  <a:srgbClr val="212529"/>
                </a:solidFill>
                <a:latin typeface="Calibri"/>
              </a:defRPr>
            </a:pPr>
            <a:r>
              <a:t>Summary:</a:t>
            </a:r>
          </a:p>
          <a:p>
            <a:pPr>
              <a:spcAft>
                <a:spcPts val="800"/>
              </a:spcAft>
              <a:defRPr sz="2200">
                <a:solidFill>
                  <a:srgbClr val="212529"/>
                </a:solidFill>
                <a:latin typeface="Calibri"/>
              </a:defRPr>
            </a:pPr>
            <a:r>
              <a:t>AdversarialShield proposes an integrated framework for evaluating and enhancing the robustness of AI‑based NIDS against adversarial attacks.</a:t>
            </a:r>
          </a:p>
          <a:p>
            <a:pPr>
              <a:spcAft>
                <a:spcPts val="800"/>
              </a:spcAft>
              <a:defRPr sz="2200">
                <a:solidFill>
                  <a:srgbClr val="212529"/>
                </a:solidFill>
                <a:latin typeface="Calibri"/>
              </a:defRPr>
            </a:pPr>
            <a:endParaRPr/>
          </a:p>
          <a:p>
            <a:pPr>
              <a:spcAft>
                <a:spcPts val="800"/>
              </a:spcAft>
              <a:defRPr sz="2200">
                <a:solidFill>
                  <a:srgbClr val="212529"/>
                </a:solidFill>
                <a:latin typeface="Calibri"/>
              </a:defRPr>
            </a:pPr>
            <a:r>
              <a:t>Key Contributions:</a:t>
            </a:r>
          </a:p>
          <a:p>
            <a:pPr>
              <a:spcAft>
                <a:spcPts val="800"/>
              </a:spcAft>
              <a:defRPr sz="2200">
                <a:solidFill>
                  <a:srgbClr val="212529"/>
                </a:solidFill>
                <a:latin typeface="Calibri"/>
              </a:defRPr>
            </a:pPr>
            <a:r>
              <a:t>• Unified attack generation, defense, and evaluation pipeline</a:t>
            </a:r>
          </a:p>
          <a:p>
            <a:pPr>
              <a:spcAft>
                <a:spcPts val="800"/>
              </a:spcAft>
              <a:defRPr sz="2200">
                <a:solidFill>
                  <a:srgbClr val="212529"/>
                </a:solidFill>
                <a:latin typeface="Calibri"/>
              </a:defRPr>
            </a:pPr>
            <a:r>
              <a:t>• Hybrid defense strategy (adversarial training + sanitization + ensemble)</a:t>
            </a:r>
          </a:p>
          <a:p>
            <a:pPr>
              <a:spcAft>
                <a:spcPts val="800"/>
              </a:spcAft>
              <a:defRPr sz="2200">
                <a:solidFill>
                  <a:srgbClr val="212529"/>
                </a:solidFill>
                <a:latin typeface="Calibri"/>
              </a:defRPr>
            </a:pPr>
            <a:r>
              <a:t>• Custom robustness scoring for multi‑intensity attack evaluation</a:t>
            </a:r>
          </a:p>
          <a:p>
            <a:pPr>
              <a:spcAft>
                <a:spcPts val="800"/>
              </a:spcAft>
              <a:defRPr sz="2200">
                <a:solidFill>
                  <a:srgbClr val="212529"/>
                </a:solidFill>
                <a:latin typeface="Calibri"/>
              </a:defRPr>
            </a:pPr>
            <a:endParaRPr/>
          </a:p>
          <a:p>
            <a:pPr>
              <a:spcAft>
                <a:spcPts val="800"/>
              </a:spcAft>
              <a:defRPr sz="2200">
                <a:solidFill>
                  <a:srgbClr val="212529"/>
                </a:solidFill>
                <a:latin typeface="Calibri"/>
              </a:defRPr>
            </a:pPr>
            <a:r>
              <a:t>Next Steps for PRC-II:</a:t>
            </a:r>
          </a:p>
          <a:p>
            <a:pPr>
              <a:spcAft>
                <a:spcPts val="800"/>
              </a:spcAft>
              <a:defRPr sz="2200">
                <a:solidFill>
                  <a:srgbClr val="212529"/>
                </a:solidFill>
                <a:latin typeface="Calibri"/>
              </a:defRPr>
            </a:pPr>
            <a:r>
              <a:t>• Complete implementation of attack generation module (FGSM, PGD)</a:t>
            </a:r>
          </a:p>
          <a:p>
            <a:pPr>
              <a:spcAft>
                <a:spcPts val="800"/>
              </a:spcAft>
              <a:defRPr sz="2200">
                <a:solidFill>
                  <a:srgbClr val="212529"/>
                </a:solidFill>
                <a:latin typeface="Calibri"/>
              </a:defRPr>
            </a:pPr>
            <a:r>
              <a:t>• Develop and test defense mechanisms</a:t>
            </a:r>
          </a:p>
          <a:p>
            <a:pPr>
              <a:spcAft>
                <a:spcPts val="800"/>
              </a:spcAft>
              <a:defRPr sz="2200">
                <a:solidFill>
                  <a:srgbClr val="212529"/>
                </a:solidFill>
                <a:latin typeface="Calibri"/>
              </a:defRPr>
            </a:pPr>
            <a:r>
              <a:t>• Perform comprehensive benchmarking and comparative analysis</a:t>
            </a:r>
          </a:p>
        </p:txBody>
      </p:sp>
      <p:pic>
        <p:nvPicPr>
          <p:cNvPr id="9" name="Picture 8">
            <a:extLst>
              <a:ext uri="{FF2B5EF4-FFF2-40B4-BE49-F238E27FC236}">
                <a16:creationId xmlns:a16="http://schemas.microsoft.com/office/drawing/2014/main" id="{8A1E4F36-1753-0867-ED5E-D624F2F98E9F}"/>
              </a:ext>
            </a:extLst>
          </p:cNvPr>
          <p:cNvPicPr>
            <a:picLocks noChangeAspect="1"/>
          </p:cNvPicPr>
          <p:nvPr/>
        </p:nvPicPr>
        <p:blipFill>
          <a:blip r:embed="rId2"/>
          <a:stretch>
            <a:fillRect/>
          </a:stretch>
        </p:blipFill>
        <p:spPr>
          <a:xfrm>
            <a:off x="74142" y="130057"/>
            <a:ext cx="1458484" cy="69086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199" y="274320"/>
            <a:ext cx="10712245" cy="584775"/>
          </a:xfrm>
          <a:prstGeom prst="rect">
            <a:avLst/>
          </a:prstGeom>
          <a:noFill/>
        </p:spPr>
        <p:txBody>
          <a:bodyPr wrap="square">
            <a:spAutoFit/>
          </a:bodyPr>
          <a:lstStyle/>
          <a:p>
            <a:pPr algn="ctr">
              <a:defRPr sz="3200" b="1">
                <a:solidFill>
                  <a:srgbClr val="0B1E3B"/>
                </a:solidFill>
                <a:latin typeface="Calibri"/>
              </a:defRPr>
            </a:pPr>
            <a:r>
              <a:rPr dirty="0" smtClean="0"/>
              <a:t>References</a:t>
            </a:r>
            <a:endParaRPr dirty="0"/>
          </a:p>
        </p:txBody>
      </p:sp>
      <p:sp>
        <p:nvSpPr>
          <p:cNvPr id="5" name="Rectangle 4"/>
          <p:cNvSpPr/>
          <p:nvPr/>
        </p:nvSpPr>
        <p:spPr>
          <a:xfrm>
            <a:off x="0" y="6537960"/>
            <a:ext cx="12191695" cy="320040"/>
          </a:xfrm>
          <a:prstGeom prst="rect">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65392"/>
            <a:ext cx="2743200" cy="274320"/>
          </a:xfrm>
          <a:prstGeom prst="rect">
            <a:avLst/>
          </a:prstGeom>
          <a:noFill/>
        </p:spPr>
        <p:txBody>
          <a:bodyPr wrap="none">
            <a:spAutoFit/>
          </a:bodyPr>
          <a:lstStyle/>
          <a:p>
            <a:pPr>
              <a:defRPr sz="1200">
                <a:solidFill>
                  <a:srgbClr val="FFFFFF"/>
                </a:solidFill>
                <a:latin typeface="Calibri"/>
              </a:defRPr>
            </a:pPr>
            <a:r>
              <a:t>22-08-2026</a:t>
            </a:r>
          </a:p>
        </p:txBody>
      </p:sp>
      <p:sp>
        <p:nvSpPr>
          <p:cNvPr id="7" name="TextBox 6"/>
          <p:cNvSpPr txBox="1"/>
          <p:nvPr/>
        </p:nvSpPr>
        <p:spPr>
          <a:xfrm>
            <a:off x="9601200" y="6565392"/>
            <a:ext cx="2103120" cy="274320"/>
          </a:xfrm>
          <a:prstGeom prst="rect">
            <a:avLst/>
          </a:prstGeom>
          <a:noFill/>
        </p:spPr>
        <p:txBody>
          <a:bodyPr wrap="none">
            <a:spAutoFit/>
          </a:bodyPr>
          <a:lstStyle/>
          <a:p>
            <a:pPr algn="r">
              <a:defRPr sz="1200">
                <a:solidFill>
                  <a:srgbClr val="FFFFFF"/>
                </a:solidFill>
                <a:latin typeface="Calibri"/>
              </a:defRPr>
            </a:pPr>
            <a:r>
              <a:t>PRC-I  |  AdversarialShield</a:t>
            </a:r>
          </a:p>
        </p:txBody>
      </p:sp>
      <p:sp>
        <p:nvSpPr>
          <p:cNvPr id="8" name="TextBox 7"/>
          <p:cNvSpPr txBox="1"/>
          <p:nvPr/>
        </p:nvSpPr>
        <p:spPr>
          <a:xfrm>
            <a:off x="457200" y="1188720"/>
            <a:ext cx="11247120" cy="4572000"/>
          </a:xfrm>
          <a:prstGeom prst="rect">
            <a:avLst/>
          </a:prstGeom>
          <a:noFill/>
        </p:spPr>
        <p:txBody>
          <a:bodyPr wrap="square">
            <a:spAutoFit/>
          </a:bodyPr>
          <a:lstStyle/>
          <a:p>
            <a:pPr>
              <a:spcAft>
                <a:spcPts val="700"/>
              </a:spcAft>
              <a:defRPr sz="1400">
                <a:solidFill>
                  <a:srgbClr val="212529"/>
                </a:solidFill>
                <a:latin typeface="Calibri"/>
              </a:defRPr>
            </a:pPr>
            <a:r>
              <a:t>[1] I. J. Goodfellow, J. Shlens, and C. Szegedy, 'Explaining and Harnessing Adversarial Examples,' ICLR, 2015.</a:t>
            </a:r>
          </a:p>
          <a:p>
            <a:pPr>
              <a:spcAft>
                <a:spcPts val="700"/>
              </a:spcAft>
              <a:defRPr sz="1400">
                <a:solidFill>
                  <a:srgbClr val="212529"/>
                </a:solidFill>
                <a:latin typeface="Calibri"/>
              </a:defRPr>
            </a:pPr>
            <a:r>
              <a:t>[2] A. Madry, A. Makelov, L. Schmidt, D. Tsipras, and A. Vladu, 'Towards Deep Learning Models Resistant to Adversarial Attacks,' ICLR, 2018.</a:t>
            </a:r>
          </a:p>
          <a:p>
            <a:pPr>
              <a:spcAft>
                <a:spcPts val="700"/>
              </a:spcAft>
              <a:defRPr sz="1400">
                <a:solidFill>
                  <a:srgbClr val="212529"/>
                </a:solidFill>
                <a:latin typeface="Calibri"/>
              </a:defRPr>
            </a:pPr>
            <a:r>
              <a:t>[3] N. Papernot, P. McDaniel, S. Jha, M. Fredrikson, Z. B. Celik, and A. Swami, 'The Limitations of Deep Learning in Adversarial Settings,' IEEE S&amp;P, 2016.</a:t>
            </a:r>
          </a:p>
          <a:p>
            <a:pPr>
              <a:spcAft>
                <a:spcPts val="700"/>
              </a:spcAft>
              <a:defRPr sz="1400">
                <a:solidFill>
                  <a:srgbClr val="212529"/>
                </a:solidFill>
                <a:latin typeface="Calibri"/>
              </a:defRPr>
            </a:pPr>
            <a:r>
              <a:t>[4] N. Carlini and D. Wagner, 'Towards Evaluating the Robustness of Neural Networks,' IEEE S&amp;P, 2017.</a:t>
            </a:r>
          </a:p>
          <a:p>
            <a:pPr>
              <a:spcAft>
                <a:spcPts val="700"/>
              </a:spcAft>
              <a:defRPr sz="1400">
                <a:solidFill>
                  <a:srgbClr val="212529"/>
                </a:solidFill>
                <a:latin typeface="Calibri"/>
              </a:defRPr>
            </a:pPr>
            <a:r>
              <a:t>[5] Y. Dong, F. Liao, T. Pang, H. Su, J. Zhu, X. Hu, and J. Li, 'Boosting Adversarial Attacks with Momentum,' CVPR, 2018.</a:t>
            </a:r>
          </a:p>
          <a:p>
            <a:pPr>
              <a:spcAft>
                <a:spcPts val="700"/>
              </a:spcAft>
              <a:defRPr sz="1400">
                <a:solidFill>
                  <a:srgbClr val="212529"/>
                </a:solidFill>
                <a:latin typeface="Calibri"/>
              </a:defRPr>
            </a:pPr>
            <a:r>
              <a:t>[6] Z. Lin, Y. Shi, and Z. Xue, 'Adversarial Attacks and Defenses in Network Intrusion Detection Systems: A Survey,' ACM CSUR, 2022.</a:t>
            </a:r>
          </a:p>
          <a:p>
            <a:pPr>
              <a:spcAft>
                <a:spcPts val="700"/>
              </a:spcAft>
              <a:defRPr sz="1400">
                <a:solidFill>
                  <a:srgbClr val="212529"/>
                </a:solidFill>
                <a:latin typeface="Calibri"/>
              </a:defRPr>
            </a:pPr>
            <a:r>
              <a:t>[7] G. Apruzzese, M. Andreolini, M. Marchetti, and M. Colajanni, 'Adversarial Robustness of ML-based NIDS,' IEEE TNSM, 2023.</a:t>
            </a:r>
          </a:p>
          <a:p>
            <a:pPr>
              <a:spcAft>
                <a:spcPts val="700"/>
              </a:spcAft>
              <a:defRPr sz="1400">
                <a:solidFill>
                  <a:srgbClr val="212529"/>
                </a:solidFill>
                <a:latin typeface="Calibri"/>
              </a:defRPr>
            </a:pPr>
            <a:r>
              <a:t>[8] X. Zhang, J. Li, and X. Wang, 'Adversarial Examples in Network Traffic Classification,' IEEE TIFS, 2021.</a:t>
            </a:r>
          </a:p>
          <a:p>
            <a:pPr>
              <a:spcAft>
                <a:spcPts val="700"/>
              </a:spcAft>
              <a:defRPr sz="1400">
                <a:solidFill>
                  <a:srgbClr val="212529"/>
                </a:solidFill>
                <a:latin typeface="Calibri"/>
              </a:defRPr>
            </a:pPr>
            <a:r>
              <a:t>[9] Z. Wang, X. Ding, and Y. Li, 'Evasion Attacks against Machine Learning-based Intrusion Detection Systems,' NDSS, 2020.</a:t>
            </a:r>
          </a:p>
          <a:p>
            <a:pPr>
              <a:spcAft>
                <a:spcPts val="700"/>
              </a:spcAft>
              <a:defRPr sz="1400">
                <a:solidFill>
                  <a:srgbClr val="212529"/>
                </a:solidFill>
                <a:latin typeface="Calibri"/>
              </a:defRPr>
            </a:pPr>
            <a:r>
              <a:t>[10] CleverHans Library: https://github.com/cleverhans-lab/cleverhans</a:t>
            </a:r>
          </a:p>
          <a:p>
            <a:pPr>
              <a:spcAft>
                <a:spcPts val="700"/>
              </a:spcAft>
              <a:defRPr sz="1400">
                <a:solidFill>
                  <a:srgbClr val="212529"/>
                </a:solidFill>
                <a:latin typeface="Calibri"/>
              </a:defRPr>
            </a:pPr>
            <a:r>
              <a:t>[11] Adversarial Robustness Toolbox (ART): https://github.com/Trusted-AI/adversarial-robustness-toolbox</a:t>
            </a:r>
          </a:p>
          <a:p>
            <a:pPr>
              <a:spcAft>
                <a:spcPts val="700"/>
              </a:spcAft>
              <a:defRPr sz="1400">
                <a:solidFill>
                  <a:srgbClr val="212529"/>
                </a:solidFill>
                <a:latin typeface="Calibri"/>
              </a:defRPr>
            </a:pPr>
            <a:r>
              <a:t>[12] NSL-KDD Dataset: https://www.unb.ca/cic/datasets/nsl.html</a:t>
            </a:r>
          </a:p>
          <a:p>
            <a:pPr>
              <a:spcAft>
                <a:spcPts val="700"/>
              </a:spcAft>
              <a:defRPr sz="1400">
                <a:solidFill>
                  <a:srgbClr val="212529"/>
                </a:solidFill>
                <a:latin typeface="Calibri"/>
              </a:defRPr>
            </a:pPr>
            <a:r>
              <a:t>[13] CICIDS2017 Dataset: https://www.unb.ca/cic/datasets/ids-2017.html</a:t>
            </a:r>
          </a:p>
          <a:p>
            <a:pPr>
              <a:spcAft>
                <a:spcPts val="700"/>
              </a:spcAft>
              <a:defRPr sz="1400">
                <a:solidFill>
                  <a:srgbClr val="212529"/>
                </a:solidFill>
                <a:latin typeface="Calibri"/>
              </a:defRPr>
            </a:pPr>
            <a:r>
              <a:t>[14] UNSW-NB15 Dataset: https://www.unsw.adfa.edu.au/unsw-canberra-cyber/cybersecurity/ADFA-NB15-Datasets</a:t>
            </a:r>
          </a:p>
        </p:txBody>
      </p:sp>
      <p:pic>
        <p:nvPicPr>
          <p:cNvPr id="9" name="Picture 8">
            <a:extLst>
              <a:ext uri="{FF2B5EF4-FFF2-40B4-BE49-F238E27FC236}">
                <a16:creationId xmlns:a16="http://schemas.microsoft.com/office/drawing/2014/main" id="{8A1E4F36-1753-0867-ED5E-D624F2F98E9F}"/>
              </a:ext>
            </a:extLst>
          </p:cNvPr>
          <p:cNvPicPr>
            <a:picLocks noChangeAspect="1"/>
          </p:cNvPicPr>
          <p:nvPr/>
        </p:nvPicPr>
        <p:blipFill>
          <a:blip r:embed="rId2"/>
          <a:stretch>
            <a:fillRect/>
          </a:stretch>
        </p:blipFill>
        <p:spPr>
          <a:xfrm>
            <a:off x="74142" y="130057"/>
            <a:ext cx="1458484" cy="69086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0" y="2286000"/>
            <a:ext cx="12191695" cy="1371600"/>
          </a:xfrm>
          <a:prstGeom prst="rect">
            <a:avLst/>
          </a:prstGeom>
          <a:noFill/>
        </p:spPr>
        <p:txBody>
          <a:bodyPr wrap="none">
            <a:spAutoFit/>
          </a:bodyPr>
          <a:lstStyle/>
          <a:p>
            <a:pPr algn="ctr">
              <a:defRPr sz="6000" b="1">
                <a:solidFill>
                  <a:srgbClr val="0B1E3B"/>
                </a:solidFill>
                <a:latin typeface="Calibri"/>
              </a:defRPr>
            </a:pPr>
            <a:r>
              <a:t>THANK YOU</a:t>
            </a:r>
          </a:p>
        </p:txBody>
      </p:sp>
      <p:sp>
        <p:nvSpPr>
          <p:cNvPr id="4" name="TextBox 3"/>
          <p:cNvSpPr txBox="1"/>
          <p:nvPr/>
        </p:nvSpPr>
        <p:spPr>
          <a:xfrm>
            <a:off x="0" y="3840480"/>
            <a:ext cx="12191695" cy="457200"/>
          </a:xfrm>
          <a:prstGeom prst="rect">
            <a:avLst/>
          </a:prstGeom>
          <a:noFill/>
        </p:spPr>
        <p:txBody>
          <a:bodyPr wrap="none">
            <a:spAutoFit/>
          </a:bodyPr>
          <a:lstStyle/>
          <a:p>
            <a:pPr algn="ctr">
              <a:defRPr sz="2800">
                <a:solidFill>
                  <a:srgbClr val="6C757D"/>
                </a:solidFill>
                <a:latin typeface="Calibri"/>
              </a:defRPr>
            </a:pPr>
            <a:r>
              <a:t>Questions?</a:t>
            </a:r>
          </a:p>
        </p:txBody>
      </p:sp>
      <p:sp>
        <p:nvSpPr>
          <p:cNvPr id="5" name="Rectangle 4"/>
          <p:cNvSpPr/>
          <p:nvPr/>
        </p:nvSpPr>
        <p:spPr>
          <a:xfrm>
            <a:off x="0" y="6537960"/>
            <a:ext cx="12191695" cy="320040"/>
          </a:xfrm>
          <a:prstGeom prst="rect">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65392"/>
            <a:ext cx="2743200" cy="274320"/>
          </a:xfrm>
          <a:prstGeom prst="rect">
            <a:avLst/>
          </a:prstGeom>
          <a:noFill/>
        </p:spPr>
        <p:txBody>
          <a:bodyPr wrap="none">
            <a:spAutoFit/>
          </a:bodyPr>
          <a:lstStyle/>
          <a:p>
            <a:pPr>
              <a:defRPr sz="1200">
                <a:solidFill>
                  <a:srgbClr val="FFFFFF"/>
                </a:solidFill>
                <a:latin typeface="Calibri"/>
              </a:defRPr>
            </a:pPr>
            <a:r>
              <a:t>22-08-2026</a:t>
            </a:r>
          </a:p>
        </p:txBody>
      </p:sp>
      <p:sp>
        <p:nvSpPr>
          <p:cNvPr id="7" name="TextBox 6"/>
          <p:cNvSpPr txBox="1"/>
          <p:nvPr/>
        </p:nvSpPr>
        <p:spPr>
          <a:xfrm>
            <a:off x="9601200" y="6565392"/>
            <a:ext cx="2103120" cy="274320"/>
          </a:xfrm>
          <a:prstGeom prst="rect">
            <a:avLst/>
          </a:prstGeom>
          <a:noFill/>
        </p:spPr>
        <p:txBody>
          <a:bodyPr wrap="none">
            <a:spAutoFit/>
          </a:bodyPr>
          <a:lstStyle/>
          <a:p>
            <a:pPr algn="r">
              <a:defRPr sz="1200">
                <a:solidFill>
                  <a:srgbClr val="FFFFFF"/>
                </a:solidFill>
                <a:latin typeface="Calibri"/>
              </a:defRPr>
            </a:pPr>
            <a:r>
              <a:t>PRC-I  |  AdversarialShield</a:t>
            </a:r>
          </a:p>
        </p:txBody>
      </p:sp>
      <p:pic>
        <p:nvPicPr>
          <p:cNvPr id="8" name="Picture 7">
            <a:extLst>
              <a:ext uri="{FF2B5EF4-FFF2-40B4-BE49-F238E27FC236}">
                <a16:creationId xmlns:a16="http://schemas.microsoft.com/office/drawing/2014/main" id="{8A1E4F36-1753-0867-ED5E-D624F2F98E9F}"/>
              </a:ext>
            </a:extLst>
          </p:cNvPr>
          <p:cNvPicPr>
            <a:picLocks noChangeAspect="1"/>
          </p:cNvPicPr>
          <p:nvPr/>
        </p:nvPicPr>
        <p:blipFill>
          <a:blip r:embed="rId2"/>
          <a:stretch>
            <a:fillRect/>
          </a:stretch>
        </p:blipFill>
        <p:spPr>
          <a:xfrm>
            <a:off x="74142" y="130057"/>
            <a:ext cx="1458484" cy="69086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TotalTime>
  <Words>1428</Words>
  <Application>Microsoft Office PowerPoint</Application>
  <PresentationFormat>Widescreen</PresentationFormat>
  <Paragraphs>246</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DELL</cp:lastModifiedBy>
  <cp:revision>4</cp:revision>
  <dcterms:created xsi:type="dcterms:W3CDTF">2013-01-27T09:14:16Z</dcterms:created>
  <dcterms:modified xsi:type="dcterms:W3CDTF">2026-08-22T05:16:30Z</dcterms:modified>
  <cp:category/>
</cp:coreProperties>
</file>